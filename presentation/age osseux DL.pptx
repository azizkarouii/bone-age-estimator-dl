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 Light" charset="1" panose="00000400000000000000"/>
      <p:regular r:id="rId22"/>
    </p:embeddedFont>
    <p:embeddedFont>
      <p:font typeface="Poppins" charset="1" panose="00000500000000000000"/>
      <p:regular r:id="rId23"/>
    </p:embeddedFont>
    <p:embeddedFont>
      <p:font typeface="Oswald" charset="1" panose="00000500000000000000"/>
      <p:regular r:id="rId24"/>
    </p:embeddedFont>
    <p:embeddedFont>
      <p:font typeface="Oswald Bold" charset="1" panose="00000800000000000000"/>
      <p:regular r:id="rId25"/>
    </p:embeddedFont>
    <p:embeddedFont>
      <p:font typeface="Calibri (MS) Bold" charset="1" panose="020F0702030404030204"/>
      <p:regular r:id="rId26"/>
    </p:embeddedFont>
    <p:embeddedFont>
      <p:font typeface="Calibri (MS)" charset="1" panose="020F0502020204030204"/>
      <p:regular r:id="rId28"/>
    </p:embeddedFont>
    <p:embeddedFont>
      <p:font typeface="Calibri (MS) Italics" charset="1" panose="020F05020202040A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5.xml" Type="http://schemas.openxmlformats.org/officeDocument/2006/relationships/notesSlide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notesSlides/notesSlide10.xml" Type="http://schemas.openxmlformats.org/officeDocument/2006/relationships/notesSlide"/><Relationship Id="rId38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cloturation de ma licence</a:t>
            </a:r>
          </a:p>
          <a:p>
            <a:r>
              <a:rPr lang="en-US"/>
              <a:t/>
            </a:r>
          </a:p>
          <a:p>
            <a:r>
              <a:rPr lang="en-US"/>
              <a:t>avec encadrement professionnel de la part de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avant de commencer nous allons nous allons présenter le plan ou le sommaire </a:t>
            </a:r>
          </a:p>
          <a:p>
            <a:r>
              <a:rPr lang="en-US"/>
              <a:t/>
            </a:r>
          </a:p>
          <a:p>
            <a:r>
              <a:rPr lang="en-US"/>
              <a:t>comprend 5 grand titres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elle a comme projet ...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Pour introduire à ,notre projet, nous allon suivre des etapes allant de </a:t>
            </a:r>
          </a:p>
          <a:p>
            <a:r>
              <a:rPr lang="en-US"/>
              <a:t/>
            </a:r>
          </a:p>
          <a:p>
            <a:r>
              <a:rPr lang="en-US"/>
              <a:t>..</a:t>
            </a:r>
          </a:p>
          <a:p>
            <a:r>
              <a:rPr lang="en-US"/>
              <a:t>..</a:t>
            </a:r>
          </a:p>
          <a:p>
            <a:r>
              <a:rPr lang="en-US"/>
              <a:t>cadre de projet</a:t>
            </a:r>
          </a:p>
          <a:p>
            <a:r>
              <a:rPr lang="en-US"/>
              <a:t/>
            </a:r>
          </a:p>
          <a:p>
            <a:r>
              <a:rPr lang="en-US"/>
              <a:t>commencons ici le probleme derrier notre sujet réside dans 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et pour plus le détailler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consiste à diviser </a:t>
            </a:r>
          </a:p>
          <a:p>
            <a:r>
              <a:rPr lang="en-US"/>
              <a:t>Scrum master qui est chargé de la suivie de projet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Juste pour éclaircir la vue globalede projet </a:t>
            </a:r>
          </a:p>
          <a:p>
            <a:r>
              <a:rPr lang="en-US"/>
              <a:t>ce qui precede comme entree </a:t>
            </a:r>
          </a:p>
          <a:p>
            <a:r>
              <a:rPr lang="en-US"/>
              <a:t>ce qui suit comme sortie</a:t>
            </a:r>
          </a:p>
          <a:p>
            <a:r>
              <a:rPr lang="en-US"/>
              <a:t>Plateforme qui est intermédiaire avec le client</a:t>
            </a:r>
          </a:p>
          <a:p>
            <a:r>
              <a:rPr lang="en-US"/>
              <a:t>Deuxième étape et qui est le but de notre porjet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 acteurs</a:t>
            </a:r>
          </a:p>
          <a:p>
            <a:r>
              <a:rPr lang="en-US"/>
              <a:t>Dont un etmst un admin et 4 principaux qui sont chargés de la gestion des offres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Illustre le déroulement des étapes</a:t>
            </a:r>
          </a:p>
          <a:p>
            <a:r>
              <a:rPr lang="en-US"/>
              <a:t>Apres création, la gestion commence avec ..</a:t>
            </a:r>
          </a:p>
          <a:p>
            <a:r>
              <a:rPr lang="en-US"/>
              <a:t>Selon la vérification finale, ils décident soit de 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et pour plus le détailler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jpe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3.jpe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659121">
            <a:off x="15967906" y="3450949"/>
            <a:ext cx="6494826" cy="6664467"/>
          </a:xfrm>
          <a:custGeom>
            <a:avLst/>
            <a:gdLst/>
            <a:ahLst/>
            <a:cxnLst/>
            <a:rect r="r" b="b" t="t" l="l"/>
            <a:pathLst>
              <a:path h="6664467" w="6494826">
                <a:moveTo>
                  <a:pt x="0" y="0"/>
                </a:moveTo>
                <a:lnTo>
                  <a:pt x="6494826" y="0"/>
                </a:lnTo>
                <a:lnTo>
                  <a:pt x="6494826" y="6664467"/>
                </a:lnTo>
                <a:lnTo>
                  <a:pt x="0" y="66644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44336" y="-4286847"/>
            <a:ext cx="9022634" cy="9258300"/>
          </a:xfrm>
          <a:custGeom>
            <a:avLst/>
            <a:gdLst/>
            <a:ahLst/>
            <a:cxnLst/>
            <a:rect r="r" b="b" t="t" l="l"/>
            <a:pathLst>
              <a:path h="9258300" w="9022634">
                <a:moveTo>
                  <a:pt x="0" y="0"/>
                </a:moveTo>
                <a:lnTo>
                  <a:pt x="9022635" y="0"/>
                </a:lnTo>
                <a:lnTo>
                  <a:pt x="9022635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410889" y="3910041"/>
            <a:ext cx="13826590" cy="2466917"/>
            <a:chOff x="0" y="0"/>
            <a:chExt cx="2670139" cy="4764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70139" cy="476402"/>
            </a:xfrm>
            <a:custGeom>
              <a:avLst/>
              <a:gdLst/>
              <a:ahLst/>
              <a:cxnLst/>
              <a:rect r="r" b="b" t="t" l="l"/>
              <a:pathLst>
                <a:path h="476402" w="2670139">
                  <a:moveTo>
                    <a:pt x="0" y="0"/>
                  </a:moveTo>
                  <a:lnTo>
                    <a:pt x="2670139" y="0"/>
                  </a:lnTo>
                  <a:lnTo>
                    <a:pt x="2670139" y="476402"/>
                  </a:lnTo>
                  <a:lnTo>
                    <a:pt x="0" y="476402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670139" cy="514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264218" y="4106639"/>
            <a:ext cx="6119932" cy="630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1"/>
              </a:lnSpc>
              <a:spcBef>
                <a:spcPct val="0"/>
              </a:spcBef>
            </a:pPr>
            <a:r>
              <a:rPr lang="en-US" sz="4054" spc="-291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EST</a:t>
            </a:r>
            <a:r>
              <a:rPr lang="en-US" sz="4054" spc="-291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IMATION DE L'ÂGE OSSEUX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77737" y="4718558"/>
            <a:ext cx="4092893" cy="630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1"/>
              </a:lnSpc>
              <a:spcBef>
                <a:spcPct val="0"/>
              </a:spcBef>
            </a:pPr>
            <a:r>
              <a:rPr lang="en-US" sz="4054" spc="-291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P</a:t>
            </a:r>
            <a:r>
              <a:rPr lang="en-US" sz="4054" spc="-291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AR DEEP LEARNING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27839" y="5528089"/>
            <a:ext cx="1199269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  <a:spcBef>
                <a:spcPct val="0"/>
              </a:spcBef>
            </a:pPr>
            <a:r>
              <a:rPr lang="en-US" sz="2499" spc="-17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RADIOGRAPHIES DE LA M</a:t>
            </a:r>
            <a:r>
              <a:rPr lang="en-US" sz="2499" spc="-17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AIN GAUCHE · DÉFI RSNA BONE AGE · RÉGRESSION CONTINUE EN MOIS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04870" y="6556984"/>
            <a:ext cx="5478260" cy="1856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9"/>
              </a:lnSpc>
              <a:spcBef>
                <a:spcPct val="0"/>
              </a:spcBef>
            </a:pPr>
            <a:r>
              <a:rPr lang="en-US" sz="32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Réalisé </a:t>
            </a:r>
            <a:r>
              <a:rPr lang="en-US" sz="32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 :   </a:t>
            </a:r>
          </a:p>
          <a:p>
            <a:pPr algn="ctr">
              <a:lnSpc>
                <a:spcPts val="4919"/>
              </a:lnSpc>
              <a:spcBef>
                <a:spcPct val="0"/>
              </a:spcBef>
            </a:pPr>
            <a:r>
              <a:rPr lang="en-US" sz="32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KAROUI MOHAMED AZIZ</a:t>
            </a:r>
          </a:p>
          <a:p>
            <a:pPr algn="ctr">
              <a:lnSpc>
                <a:spcPts val="4919"/>
              </a:lnSpc>
              <a:spcBef>
                <a:spcPct val="0"/>
              </a:spcBef>
            </a:pPr>
            <a:r>
              <a:rPr lang="en-US" sz="32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SIOUD WASSIM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4658" y="9876167"/>
            <a:ext cx="10060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39231" y="8936727"/>
            <a:ext cx="6809537" cy="94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4"/>
              </a:lnSpc>
              <a:spcBef>
                <a:spcPct val="0"/>
              </a:spcBef>
            </a:pPr>
            <a:r>
              <a:rPr lang="en-US" b="true" sz="3087" i="tru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4ÈME ANNÉE CYCLE INGÉNIEUR - GROUPE 3</a:t>
            </a:r>
          </a:p>
          <a:p>
            <a:pPr algn="ctr">
              <a:lnSpc>
                <a:spcPts val="3704"/>
              </a:lnSpc>
              <a:spcBef>
                <a:spcPct val="0"/>
              </a:spcBef>
            </a:pPr>
            <a:r>
              <a:rPr lang="en-US" b="true" sz="3087" i="tru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ANNÉE UNIVERSITAIRE 2025-2026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983350" y="2176548"/>
            <a:ext cx="12801600" cy="822960"/>
            <a:chOff x="0" y="0"/>
            <a:chExt cx="1706880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7068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b="true" sz="2699" spc="80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DEEP LEARNING · IMAGERIE MÉDICALE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4231970" y="1243141"/>
            <a:ext cx="1567908" cy="2133501"/>
          </a:xfrm>
          <a:custGeom>
            <a:avLst/>
            <a:gdLst/>
            <a:ahLst/>
            <a:cxnLst/>
            <a:rect r="r" b="b" t="t" l="l"/>
            <a:pathLst>
              <a:path h="2133501" w="1567908">
                <a:moveTo>
                  <a:pt x="0" y="0"/>
                </a:moveTo>
                <a:lnTo>
                  <a:pt x="1567909" y="0"/>
                </a:lnTo>
                <a:lnTo>
                  <a:pt x="1567909" y="2133500"/>
                </a:lnTo>
                <a:lnTo>
                  <a:pt x="0" y="2133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659121">
            <a:off x="-4012602" y="5585714"/>
            <a:ext cx="7629294" cy="7828566"/>
          </a:xfrm>
          <a:custGeom>
            <a:avLst/>
            <a:gdLst/>
            <a:ahLst/>
            <a:cxnLst/>
            <a:rect r="r" b="b" t="t" l="l"/>
            <a:pathLst>
              <a:path h="7828566" w="7629294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016048">
            <a:off x="12035531" y="1055849"/>
            <a:ext cx="10749463" cy="2687366"/>
          </a:xfrm>
          <a:custGeom>
            <a:avLst/>
            <a:gdLst/>
            <a:ahLst/>
            <a:cxnLst/>
            <a:rect r="r" b="b" t="t" l="l"/>
            <a:pathLst>
              <a:path h="2687366" w="10749463">
                <a:moveTo>
                  <a:pt x="0" y="0"/>
                </a:moveTo>
                <a:lnTo>
                  <a:pt x="10749463" y="0"/>
                </a:lnTo>
                <a:lnTo>
                  <a:pt x="10749463" y="2687366"/>
                </a:lnTo>
                <a:lnTo>
                  <a:pt x="0" y="26873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188720"/>
            <a:chOff x="0" y="0"/>
            <a:chExt cx="243840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182880"/>
            <a:ext cx="16824960" cy="822960"/>
            <a:chOff x="0" y="0"/>
            <a:chExt cx="22433280" cy="10972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33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48360" r="0" b="-3483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2433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3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 DE LA PRÉSENTATION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33727" y="1731007"/>
            <a:ext cx="8242297" cy="1567177"/>
            <a:chOff x="0" y="0"/>
            <a:chExt cx="10989729" cy="20895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8509" y="8509"/>
              <a:ext cx="109728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89818" cy="2089658"/>
            </a:xfrm>
            <a:custGeom>
              <a:avLst/>
              <a:gdLst/>
              <a:ahLst/>
              <a:cxnLst/>
              <a:rect r="r" b="b" t="t" l="l"/>
              <a:pathLst>
                <a:path h="2089658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2081149"/>
                  </a:lnTo>
                  <a:cubicBezTo>
                    <a:pt x="10989818" y="2085848"/>
                    <a:pt x="10986008" y="2089658"/>
                    <a:pt x="10981309" y="2089658"/>
                  </a:cubicBezTo>
                  <a:lnTo>
                    <a:pt x="8509" y="2089658"/>
                  </a:lnTo>
                  <a:cubicBezTo>
                    <a:pt x="3810" y="2089658"/>
                    <a:pt x="0" y="2085848"/>
                    <a:pt x="0" y="20811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81149"/>
                  </a:lnTo>
                  <a:lnTo>
                    <a:pt x="8509" y="2081149"/>
                  </a:lnTo>
                  <a:lnTo>
                    <a:pt x="8509" y="2072640"/>
                  </a:lnTo>
                  <a:lnTo>
                    <a:pt x="10981309" y="2072640"/>
                  </a:lnTo>
                  <a:lnTo>
                    <a:pt x="10981309" y="2081149"/>
                  </a:lnTo>
                  <a:lnTo>
                    <a:pt x="10972800" y="2081149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40080" y="1737360"/>
            <a:ext cx="1005840" cy="1554480"/>
            <a:chOff x="0" y="0"/>
            <a:chExt cx="1341120" cy="2072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1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40080" y="1737360"/>
            <a:ext cx="1005840" cy="1554480"/>
            <a:chOff x="0" y="0"/>
            <a:chExt cx="1341120" cy="2072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1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48287" t="0" r="-148287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341120" cy="212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828800" y="1847088"/>
            <a:ext cx="6858000" cy="694944"/>
            <a:chOff x="0" y="0"/>
            <a:chExt cx="9144000" cy="9265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0" cy="926592"/>
            </a:xfrm>
            <a:custGeom>
              <a:avLst/>
              <a:gdLst/>
              <a:ahLst/>
              <a:cxnLst/>
              <a:rect r="r" b="b" t="t" l="l"/>
              <a:pathLst>
                <a:path h="92659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2286" r="0" b="-14228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1440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Contexte &amp; Problématique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28800" y="2560320"/>
            <a:ext cx="6858000" cy="585216"/>
            <a:chOff x="0" y="0"/>
            <a:chExt cx="9144000" cy="7802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0" cy="780288"/>
            </a:xfrm>
            <a:custGeom>
              <a:avLst/>
              <a:gdLst/>
              <a:ahLst/>
              <a:cxnLst/>
              <a:rect r="r" b="b" t="t" l="l"/>
              <a:pathLst>
                <a:path h="7802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8340" r="0" b="-17834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1440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Enjeu médical de l'estimation de l'âge osseux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3727" y="3742687"/>
            <a:ext cx="8242297" cy="1567177"/>
            <a:chOff x="0" y="0"/>
            <a:chExt cx="10989729" cy="208956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8509" y="8509"/>
              <a:ext cx="109728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89818" cy="2089658"/>
            </a:xfrm>
            <a:custGeom>
              <a:avLst/>
              <a:gdLst/>
              <a:ahLst/>
              <a:cxnLst/>
              <a:rect r="r" b="b" t="t" l="l"/>
              <a:pathLst>
                <a:path h="2089658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2081149"/>
                  </a:lnTo>
                  <a:cubicBezTo>
                    <a:pt x="10989818" y="2085848"/>
                    <a:pt x="10986008" y="2089658"/>
                    <a:pt x="10981309" y="2089658"/>
                  </a:cubicBezTo>
                  <a:lnTo>
                    <a:pt x="8509" y="2089658"/>
                  </a:lnTo>
                  <a:cubicBezTo>
                    <a:pt x="3810" y="2089658"/>
                    <a:pt x="0" y="2085848"/>
                    <a:pt x="0" y="20811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81149"/>
                  </a:lnTo>
                  <a:lnTo>
                    <a:pt x="8509" y="2081149"/>
                  </a:lnTo>
                  <a:lnTo>
                    <a:pt x="8509" y="2072640"/>
                  </a:lnTo>
                  <a:lnTo>
                    <a:pt x="10981309" y="2072640"/>
                  </a:lnTo>
                  <a:lnTo>
                    <a:pt x="10981309" y="2081149"/>
                  </a:lnTo>
                  <a:lnTo>
                    <a:pt x="10972800" y="2081149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40080" y="3749040"/>
            <a:ext cx="1005840" cy="1554480"/>
            <a:chOff x="0" y="0"/>
            <a:chExt cx="1341120" cy="2072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41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40080" y="3749040"/>
            <a:ext cx="1005840" cy="1554480"/>
            <a:chOff x="0" y="0"/>
            <a:chExt cx="1341120" cy="2072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41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48287" t="0" r="-148287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341120" cy="212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828800" y="3858768"/>
            <a:ext cx="6858000" cy="694944"/>
            <a:chOff x="0" y="0"/>
            <a:chExt cx="9144000" cy="9265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0" cy="926592"/>
            </a:xfrm>
            <a:custGeom>
              <a:avLst/>
              <a:gdLst/>
              <a:ahLst/>
              <a:cxnLst/>
              <a:rect r="r" b="b" t="t" l="l"/>
              <a:pathLst>
                <a:path h="92659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2286" r="0" b="-14228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91440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&amp; Prétraitement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828800" y="4572000"/>
            <a:ext cx="6858000" cy="585216"/>
            <a:chOff x="0" y="0"/>
            <a:chExt cx="9144000" cy="7802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0" cy="780288"/>
            </a:xfrm>
            <a:custGeom>
              <a:avLst/>
              <a:gdLst/>
              <a:ahLst/>
              <a:cxnLst/>
              <a:rect r="r" b="b" t="t" l="l"/>
              <a:pathLst>
                <a:path h="7802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8340" r="0" b="-17834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91440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RSNA Bone Age — 12 811 radiographies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33727" y="5754367"/>
            <a:ext cx="8242297" cy="1567177"/>
            <a:chOff x="0" y="0"/>
            <a:chExt cx="10989729" cy="208956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8509" y="8509"/>
              <a:ext cx="109728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89818" cy="2089658"/>
            </a:xfrm>
            <a:custGeom>
              <a:avLst/>
              <a:gdLst/>
              <a:ahLst/>
              <a:cxnLst/>
              <a:rect r="r" b="b" t="t" l="l"/>
              <a:pathLst>
                <a:path h="2089658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2081149"/>
                  </a:lnTo>
                  <a:cubicBezTo>
                    <a:pt x="10989818" y="2085848"/>
                    <a:pt x="10986008" y="2089658"/>
                    <a:pt x="10981309" y="2089658"/>
                  </a:cubicBezTo>
                  <a:lnTo>
                    <a:pt x="8509" y="2089658"/>
                  </a:lnTo>
                  <a:cubicBezTo>
                    <a:pt x="3810" y="2089658"/>
                    <a:pt x="0" y="2085848"/>
                    <a:pt x="0" y="20811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81149"/>
                  </a:lnTo>
                  <a:lnTo>
                    <a:pt x="8509" y="2081149"/>
                  </a:lnTo>
                  <a:lnTo>
                    <a:pt x="8509" y="2072640"/>
                  </a:lnTo>
                  <a:lnTo>
                    <a:pt x="10981309" y="2072640"/>
                  </a:lnTo>
                  <a:lnTo>
                    <a:pt x="10981309" y="2081149"/>
                  </a:lnTo>
                  <a:lnTo>
                    <a:pt x="10972800" y="2081149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40080" y="5760720"/>
            <a:ext cx="1005840" cy="1554480"/>
            <a:chOff x="0" y="0"/>
            <a:chExt cx="1341120" cy="2072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41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40080" y="5760720"/>
            <a:ext cx="1005840" cy="1554480"/>
            <a:chOff x="0" y="0"/>
            <a:chExt cx="1341120" cy="2072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41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48287" t="0" r="-148287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1341120" cy="212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828800" y="5870448"/>
            <a:ext cx="6858000" cy="694944"/>
            <a:chOff x="0" y="0"/>
            <a:chExt cx="9144000" cy="9265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144000" cy="926592"/>
            </a:xfrm>
            <a:custGeom>
              <a:avLst/>
              <a:gdLst/>
              <a:ahLst/>
              <a:cxnLst/>
              <a:rect r="r" b="b" t="t" l="l"/>
              <a:pathLst>
                <a:path h="92659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2286" r="0" b="-14228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91440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Baseline CNN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828800" y="6583680"/>
            <a:ext cx="6858000" cy="585216"/>
            <a:chOff x="0" y="0"/>
            <a:chExt cx="9144000" cy="78028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44000" cy="780288"/>
            </a:xfrm>
            <a:custGeom>
              <a:avLst/>
              <a:gdLst/>
              <a:ahLst/>
              <a:cxnLst/>
              <a:rect r="r" b="b" t="t" l="l"/>
              <a:pathLst>
                <a:path h="7802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8340" r="0" b="-17834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91440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Architecture from scratch — MAE 33.95 mois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33727" y="7766047"/>
            <a:ext cx="8242297" cy="1567177"/>
            <a:chOff x="0" y="0"/>
            <a:chExt cx="10989729" cy="208956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8509" y="8509"/>
              <a:ext cx="109728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89818" cy="2089658"/>
            </a:xfrm>
            <a:custGeom>
              <a:avLst/>
              <a:gdLst/>
              <a:ahLst/>
              <a:cxnLst/>
              <a:rect r="r" b="b" t="t" l="l"/>
              <a:pathLst>
                <a:path h="2089658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2081149"/>
                  </a:lnTo>
                  <a:cubicBezTo>
                    <a:pt x="10989818" y="2085848"/>
                    <a:pt x="10986008" y="2089658"/>
                    <a:pt x="10981309" y="2089658"/>
                  </a:cubicBezTo>
                  <a:lnTo>
                    <a:pt x="8509" y="2089658"/>
                  </a:lnTo>
                  <a:cubicBezTo>
                    <a:pt x="3810" y="2089658"/>
                    <a:pt x="0" y="2085848"/>
                    <a:pt x="0" y="20811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81149"/>
                  </a:lnTo>
                  <a:lnTo>
                    <a:pt x="8509" y="2081149"/>
                  </a:lnTo>
                  <a:lnTo>
                    <a:pt x="8509" y="2072640"/>
                  </a:lnTo>
                  <a:lnTo>
                    <a:pt x="10981309" y="2072640"/>
                  </a:lnTo>
                  <a:lnTo>
                    <a:pt x="10981309" y="2081149"/>
                  </a:lnTo>
                  <a:lnTo>
                    <a:pt x="10972800" y="2081149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40080" y="7772400"/>
            <a:ext cx="1005840" cy="1554480"/>
            <a:chOff x="0" y="0"/>
            <a:chExt cx="1341120" cy="20726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341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40080" y="7772400"/>
            <a:ext cx="1005840" cy="1554480"/>
            <a:chOff x="0" y="0"/>
            <a:chExt cx="1341120" cy="2072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41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48287" t="0" r="-148287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1341120" cy="212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828800" y="7882128"/>
            <a:ext cx="6858000" cy="694944"/>
            <a:chOff x="0" y="0"/>
            <a:chExt cx="9144000" cy="9265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144000" cy="926592"/>
            </a:xfrm>
            <a:custGeom>
              <a:avLst/>
              <a:gdLst/>
              <a:ahLst/>
              <a:cxnLst/>
              <a:rect r="r" b="b" t="t" l="l"/>
              <a:pathLst>
                <a:path h="92659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2286" r="0" b="-14228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91440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Régularisation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828800" y="8595360"/>
            <a:ext cx="6858000" cy="585216"/>
            <a:chOff x="0" y="0"/>
            <a:chExt cx="9144000" cy="78028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144000" cy="780288"/>
            </a:xfrm>
            <a:custGeom>
              <a:avLst/>
              <a:gdLst/>
              <a:ahLst/>
              <a:cxnLst/>
              <a:rect r="r" b="b" t="t" l="l"/>
              <a:pathLst>
                <a:path h="7802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8340" r="0" b="-17834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91440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BN, Dropout, L2, Early Stopping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503407" y="1731007"/>
            <a:ext cx="8242297" cy="1567177"/>
            <a:chOff x="0" y="0"/>
            <a:chExt cx="10989729" cy="208956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8509" y="8509"/>
              <a:ext cx="109728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89818" cy="2089658"/>
            </a:xfrm>
            <a:custGeom>
              <a:avLst/>
              <a:gdLst/>
              <a:ahLst/>
              <a:cxnLst/>
              <a:rect r="r" b="b" t="t" l="l"/>
              <a:pathLst>
                <a:path h="2089658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2081149"/>
                  </a:lnTo>
                  <a:cubicBezTo>
                    <a:pt x="10989818" y="2085848"/>
                    <a:pt x="10986008" y="2089658"/>
                    <a:pt x="10981309" y="2089658"/>
                  </a:cubicBezTo>
                  <a:lnTo>
                    <a:pt x="8509" y="2089658"/>
                  </a:lnTo>
                  <a:cubicBezTo>
                    <a:pt x="3810" y="2089658"/>
                    <a:pt x="0" y="2085848"/>
                    <a:pt x="0" y="20811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81149"/>
                  </a:lnTo>
                  <a:lnTo>
                    <a:pt x="8509" y="2081149"/>
                  </a:lnTo>
                  <a:lnTo>
                    <a:pt x="8509" y="2072640"/>
                  </a:lnTo>
                  <a:lnTo>
                    <a:pt x="10981309" y="2072640"/>
                  </a:lnTo>
                  <a:lnTo>
                    <a:pt x="10981309" y="2081149"/>
                  </a:lnTo>
                  <a:lnTo>
                    <a:pt x="10972800" y="2081149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509760" y="1737360"/>
            <a:ext cx="1005840" cy="1554480"/>
            <a:chOff x="0" y="0"/>
            <a:chExt cx="1341120" cy="2072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341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509760" y="1737360"/>
            <a:ext cx="1005840" cy="1554480"/>
            <a:chOff x="0" y="0"/>
            <a:chExt cx="1341120" cy="20726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341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48287" t="0" r="-148287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57150"/>
              <a:ext cx="1341120" cy="212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698480" y="1847088"/>
            <a:ext cx="6858000" cy="694944"/>
            <a:chOff x="0" y="0"/>
            <a:chExt cx="9144000" cy="92659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144000" cy="926592"/>
            </a:xfrm>
            <a:custGeom>
              <a:avLst/>
              <a:gdLst/>
              <a:ahLst/>
              <a:cxnLst/>
              <a:rect r="r" b="b" t="t" l="l"/>
              <a:pathLst>
                <a:path h="92659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2286" r="0" b="-142286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91440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Transfer Learning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698480" y="2560320"/>
            <a:ext cx="6858000" cy="585216"/>
            <a:chOff x="0" y="0"/>
            <a:chExt cx="9144000" cy="78028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144000" cy="780288"/>
            </a:xfrm>
            <a:custGeom>
              <a:avLst/>
              <a:gdLst/>
              <a:ahLst/>
              <a:cxnLst/>
              <a:rect r="r" b="b" t="t" l="l"/>
              <a:pathLst>
                <a:path h="7802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8340" r="0" b="-17834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91440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EfficientNetB0 — MAE 14.37 mois · R² 0.81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503407" y="3742687"/>
            <a:ext cx="8242297" cy="1567177"/>
            <a:chOff x="0" y="0"/>
            <a:chExt cx="10989729" cy="208956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8509" y="8509"/>
              <a:ext cx="109728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989818" cy="2089658"/>
            </a:xfrm>
            <a:custGeom>
              <a:avLst/>
              <a:gdLst/>
              <a:ahLst/>
              <a:cxnLst/>
              <a:rect r="r" b="b" t="t" l="l"/>
              <a:pathLst>
                <a:path h="2089658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2081149"/>
                  </a:lnTo>
                  <a:cubicBezTo>
                    <a:pt x="10989818" y="2085848"/>
                    <a:pt x="10986008" y="2089658"/>
                    <a:pt x="10981309" y="2089658"/>
                  </a:cubicBezTo>
                  <a:lnTo>
                    <a:pt x="8509" y="2089658"/>
                  </a:lnTo>
                  <a:cubicBezTo>
                    <a:pt x="3810" y="2089658"/>
                    <a:pt x="0" y="2085848"/>
                    <a:pt x="0" y="20811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81149"/>
                  </a:lnTo>
                  <a:lnTo>
                    <a:pt x="8509" y="2081149"/>
                  </a:lnTo>
                  <a:lnTo>
                    <a:pt x="8509" y="2072640"/>
                  </a:lnTo>
                  <a:lnTo>
                    <a:pt x="10981309" y="2072640"/>
                  </a:lnTo>
                  <a:lnTo>
                    <a:pt x="10981309" y="2081149"/>
                  </a:lnTo>
                  <a:lnTo>
                    <a:pt x="10972800" y="2081149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509760" y="3749040"/>
            <a:ext cx="1005840" cy="1554480"/>
            <a:chOff x="0" y="0"/>
            <a:chExt cx="1341120" cy="20726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341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509760" y="3749040"/>
            <a:ext cx="1005840" cy="1554480"/>
            <a:chOff x="0" y="0"/>
            <a:chExt cx="1341120" cy="20726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341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48287" t="0" r="-148287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57150"/>
              <a:ext cx="1341120" cy="212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0698480" y="3858768"/>
            <a:ext cx="6858000" cy="694944"/>
            <a:chOff x="0" y="0"/>
            <a:chExt cx="9144000" cy="92659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144000" cy="926592"/>
            </a:xfrm>
            <a:custGeom>
              <a:avLst/>
              <a:gdLst/>
              <a:ahLst/>
              <a:cxnLst/>
              <a:rect r="r" b="b" t="t" l="l"/>
              <a:pathLst>
                <a:path h="92659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2286" r="0" b="-142286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91440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Comparaison &amp; Résultats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0698480" y="4572000"/>
            <a:ext cx="6858000" cy="585216"/>
            <a:chOff x="0" y="0"/>
            <a:chExt cx="9144000" cy="78028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144000" cy="780288"/>
            </a:xfrm>
            <a:custGeom>
              <a:avLst/>
              <a:gdLst/>
              <a:ahLst/>
              <a:cxnLst/>
              <a:rect r="r" b="b" t="t" l="l"/>
              <a:pathLst>
                <a:path h="7802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8340" r="0" b="-17834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91440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Synthèse des trois approches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503407" y="5754367"/>
            <a:ext cx="8242297" cy="1567177"/>
            <a:chOff x="0" y="0"/>
            <a:chExt cx="10989729" cy="2089569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8509" y="8509"/>
              <a:ext cx="109728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0989818" cy="2089658"/>
            </a:xfrm>
            <a:custGeom>
              <a:avLst/>
              <a:gdLst/>
              <a:ahLst/>
              <a:cxnLst/>
              <a:rect r="r" b="b" t="t" l="l"/>
              <a:pathLst>
                <a:path h="2089658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2081149"/>
                  </a:lnTo>
                  <a:cubicBezTo>
                    <a:pt x="10989818" y="2085848"/>
                    <a:pt x="10986008" y="2089658"/>
                    <a:pt x="10981309" y="2089658"/>
                  </a:cubicBezTo>
                  <a:lnTo>
                    <a:pt x="8509" y="2089658"/>
                  </a:lnTo>
                  <a:cubicBezTo>
                    <a:pt x="3810" y="2089658"/>
                    <a:pt x="0" y="2085848"/>
                    <a:pt x="0" y="20811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81149"/>
                  </a:lnTo>
                  <a:lnTo>
                    <a:pt x="8509" y="2081149"/>
                  </a:lnTo>
                  <a:lnTo>
                    <a:pt x="8509" y="2072640"/>
                  </a:lnTo>
                  <a:lnTo>
                    <a:pt x="10981309" y="2072640"/>
                  </a:lnTo>
                  <a:lnTo>
                    <a:pt x="10981309" y="2081149"/>
                  </a:lnTo>
                  <a:lnTo>
                    <a:pt x="10972800" y="2081149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9509760" y="5760720"/>
            <a:ext cx="1005840" cy="1554480"/>
            <a:chOff x="0" y="0"/>
            <a:chExt cx="1341120" cy="207264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341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509760" y="5760720"/>
            <a:ext cx="1005840" cy="1554480"/>
            <a:chOff x="0" y="0"/>
            <a:chExt cx="1341120" cy="207264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341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48287" t="0" r="-148287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57150"/>
              <a:ext cx="1341120" cy="212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0698480" y="5870448"/>
            <a:ext cx="6858000" cy="694944"/>
            <a:chOff x="0" y="0"/>
            <a:chExt cx="9144000" cy="92659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144000" cy="926592"/>
            </a:xfrm>
            <a:custGeom>
              <a:avLst/>
              <a:gdLst/>
              <a:ahLst/>
              <a:cxnLst/>
              <a:rect r="r" b="b" t="t" l="l"/>
              <a:pathLst>
                <a:path h="92659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2286" r="0" b="-142286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91440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Interprétation Grad-CAM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0698480" y="6583680"/>
            <a:ext cx="6858000" cy="585216"/>
            <a:chOff x="0" y="0"/>
            <a:chExt cx="9144000" cy="78028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144000" cy="780288"/>
            </a:xfrm>
            <a:custGeom>
              <a:avLst/>
              <a:gdLst/>
              <a:ahLst/>
              <a:cxnLst/>
              <a:rect r="r" b="b" t="t" l="l"/>
              <a:pathLst>
                <a:path h="7802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8340" r="0" b="-17834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91440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Visualisation des zones d'attention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503407" y="7766047"/>
            <a:ext cx="8242297" cy="1567177"/>
            <a:chOff x="0" y="0"/>
            <a:chExt cx="10989729" cy="2089569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8509" y="8509"/>
              <a:ext cx="109728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0989818" cy="2089658"/>
            </a:xfrm>
            <a:custGeom>
              <a:avLst/>
              <a:gdLst/>
              <a:ahLst/>
              <a:cxnLst/>
              <a:rect r="r" b="b" t="t" l="l"/>
              <a:pathLst>
                <a:path h="2089658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2081149"/>
                  </a:lnTo>
                  <a:cubicBezTo>
                    <a:pt x="10989818" y="2085848"/>
                    <a:pt x="10986008" y="2089658"/>
                    <a:pt x="10981309" y="2089658"/>
                  </a:cubicBezTo>
                  <a:lnTo>
                    <a:pt x="8509" y="2089658"/>
                  </a:lnTo>
                  <a:cubicBezTo>
                    <a:pt x="3810" y="2089658"/>
                    <a:pt x="0" y="2085848"/>
                    <a:pt x="0" y="20811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81149"/>
                  </a:lnTo>
                  <a:lnTo>
                    <a:pt x="8509" y="2081149"/>
                  </a:lnTo>
                  <a:lnTo>
                    <a:pt x="8509" y="2072640"/>
                  </a:lnTo>
                  <a:lnTo>
                    <a:pt x="10981309" y="2072640"/>
                  </a:lnTo>
                  <a:lnTo>
                    <a:pt x="10981309" y="2081149"/>
                  </a:lnTo>
                  <a:lnTo>
                    <a:pt x="10972800" y="2081149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509760" y="7772400"/>
            <a:ext cx="1005840" cy="1554480"/>
            <a:chOff x="0" y="0"/>
            <a:chExt cx="1341120" cy="207264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341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9509760" y="7772400"/>
            <a:ext cx="1005840" cy="1554480"/>
            <a:chOff x="0" y="0"/>
            <a:chExt cx="1341120" cy="207264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341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48287" t="0" r="-148287" b="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57150"/>
              <a:ext cx="1341120" cy="212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0698480" y="7882128"/>
            <a:ext cx="6858000" cy="694944"/>
            <a:chOff x="0" y="0"/>
            <a:chExt cx="9144000" cy="92659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9144000" cy="926592"/>
            </a:xfrm>
            <a:custGeom>
              <a:avLst/>
              <a:gdLst/>
              <a:ahLst/>
              <a:cxnLst/>
              <a:rect r="r" b="b" t="t" l="l"/>
              <a:pathLst>
                <a:path h="92659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2286" r="0" b="-142286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91440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Démo &amp; Conclusion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0698480" y="8595360"/>
            <a:ext cx="6858000" cy="585216"/>
            <a:chOff x="0" y="0"/>
            <a:chExt cx="9144000" cy="78028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9144000" cy="780288"/>
            </a:xfrm>
            <a:custGeom>
              <a:avLst/>
              <a:gdLst/>
              <a:ahLst/>
              <a:cxnLst/>
              <a:rect r="r" b="b" t="t" l="l"/>
              <a:pathLst>
                <a:path h="78028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8340" r="0" b="-17834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91440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Application Streamlit &amp; perspectives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70458" y="6971664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7" y="0"/>
                </a:lnTo>
                <a:lnTo>
                  <a:pt x="7616557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59121">
            <a:off x="16521286" y="190534"/>
            <a:ext cx="7629294" cy="7828566"/>
          </a:xfrm>
          <a:custGeom>
            <a:avLst/>
            <a:gdLst/>
            <a:ahLst/>
            <a:cxnLst/>
            <a:rect r="r" b="b" t="t" l="l"/>
            <a:pathLst>
              <a:path h="7828566" w="7629294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188720"/>
            <a:chOff x="0" y="0"/>
            <a:chExt cx="243840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182880"/>
            <a:ext cx="16824960" cy="822960"/>
            <a:chOff x="0" y="0"/>
            <a:chExt cx="22433280" cy="10972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33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8360" r="0" b="-3483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2433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3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· CONTEXTE &amp; PROBLÉMATIQUE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31520" y="1645920"/>
            <a:ext cx="10058400" cy="914400"/>
            <a:chOff x="0" y="0"/>
            <a:chExt cx="134112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11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3411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Qu'est-ce que l'âge osseux ?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2779776"/>
            <a:ext cx="9875520" cy="1645920"/>
            <a:chOff x="0" y="0"/>
            <a:chExt cx="13167360" cy="21945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67361" cy="2194560"/>
            </a:xfrm>
            <a:custGeom>
              <a:avLst/>
              <a:gdLst/>
              <a:ahLst/>
              <a:cxnLst/>
              <a:rect r="r" b="b" t="t" l="l"/>
              <a:pathLst>
                <a:path h="219456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316736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L'âge osseux mesure la maturité squelettique d'un enfant à partir de radiographies de la main gauche. Il peut différer de l'âge chronologique et reflète le développement physique réel.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31520" y="4663440"/>
            <a:ext cx="10058400" cy="822960"/>
            <a:chOff x="0" y="0"/>
            <a:chExt cx="1341120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11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8150" r="0" b="-18815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34112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Objectif du projet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31520" y="5577840"/>
            <a:ext cx="9875520" cy="1188720"/>
            <a:chOff x="0" y="0"/>
            <a:chExt cx="13167360" cy="15849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167361" cy="1584960"/>
            </a:xfrm>
            <a:custGeom>
              <a:avLst/>
              <a:gdLst/>
              <a:ahLst/>
              <a:cxnLst/>
              <a:rect r="r" b="b" t="t" l="l"/>
              <a:pathLst>
                <a:path h="158496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1875" r="0" b="-11187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316736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Prédire automatiquement l'âge osseux en mois à partir d'une radiographie — tâche de régression continue, non de classification.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31520" y="7406640"/>
            <a:ext cx="2834640" cy="1280160"/>
            <a:chOff x="0" y="0"/>
            <a:chExt cx="3779520" cy="17068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795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31520" y="7406640"/>
            <a:ext cx="2834640" cy="1280160"/>
            <a:chOff x="0" y="0"/>
            <a:chExt cx="3779520" cy="17068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7795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943" t="0" r="-794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77952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Pédiatrie &amp; croissance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931920" y="7406640"/>
            <a:ext cx="2834640" cy="1280160"/>
            <a:chOff x="0" y="0"/>
            <a:chExt cx="3779520" cy="17068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7795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931920" y="7406640"/>
            <a:ext cx="2834640" cy="1280160"/>
            <a:chOff x="0" y="0"/>
            <a:chExt cx="3779520" cy="17068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7795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943" t="0" r="-794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77952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Orthodontie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132320" y="7406640"/>
            <a:ext cx="2834640" cy="1280160"/>
            <a:chOff x="0" y="0"/>
            <a:chExt cx="3779520" cy="17068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7795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132320" y="7406640"/>
            <a:ext cx="2834640" cy="1280160"/>
            <a:chOff x="0" y="0"/>
            <a:chExt cx="3779520" cy="17068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7795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943" t="0" r="-794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77952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Médecine légale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149327" y="1548127"/>
            <a:ext cx="6504937" cy="7967977"/>
            <a:chOff x="0" y="0"/>
            <a:chExt cx="8673249" cy="1062396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8509" y="8509"/>
              <a:ext cx="8656319" cy="10607040"/>
            </a:xfrm>
            <a:custGeom>
              <a:avLst/>
              <a:gdLst/>
              <a:ahLst/>
              <a:cxnLst/>
              <a:rect r="r" b="b" t="t" l="l"/>
              <a:pathLst>
                <a:path h="10607040" w="8656319">
                  <a:moveTo>
                    <a:pt x="0" y="0"/>
                  </a:moveTo>
                  <a:lnTo>
                    <a:pt x="8656319" y="0"/>
                  </a:lnTo>
                  <a:lnTo>
                    <a:pt x="8656319" y="10607040"/>
                  </a:lnTo>
                  <a:lnTo>
                    <a:pt x="0" y="10607040"/>
                  </a:lnTo>
                  <a:close/>
                </a:path>
              </a:pathLst>
            </a:custGeom>
            <a:solidFill>
              <a:srgbClr val="F0F9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673338" cy="10624058"/>
            </a:xfrm>
            <a:custGeom>
              <a:avLst/>
              <a:gdLst/>
              <a:ahLst/>
              <a:cxnLst/>
              <a:rect r="r" b="b" t="t" l="l"/>
              <a:pathLst>
                <a:path h="10624058" w="8673338">
                  <a:moveTo>
                    <a:pt x="8509" y="0"/>
                  </a:moveTo>
                  <a:lnTo>
                    <a:pt x="8664828" y="0"/>
                  </a:lnTo>
                  <a:cubicBezTo>
                    <a:pt x="8669527" y="0"/>
                    <a:pt x="8673338" y="3810"/>
                    <a:pt x="8673338" y="8509"/>
                  </a:cubicBezTo>
                  <a:lnTo>
                    <a:pt x="8673338" y="10615549"/>
                  </a:lnTo>
                  <a:cubicBezTo>
                    <a:pt x="8673338" y="10620248"/>
                    <a:pt x="8669527" y="10624058"/>
                    <a:pt x="8664828" y="10624058"/>
                  </a:cubicBezTo>
                  <a:lnTo>
                    <a:pt x="8509" y="10624058"/>
                  </a:lnTo>
                  <a:cubicBezTo>
                    <a:pt x="3810" y="10624058"/>
                    <a:pt x="0" y="10620248"/>
                    <a:pt x="0" y="106155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615549"/>
                  </a:lnTo>
                  <a:lnTo>
                    <a:pt x="8509" y="10615549"/>
                  </a:lnTo>
                  <a:lnTo>
                    <a:pt x="8509" y="10607040"/>
                  </a:lnTo>
                  <a:lnTo>
                    <a:pt x="8664828" y="10607040"/>
                  </a:lnTo>
                  <a:lnTo>
                    <a:pt x="8664828" y="10615549"/>
                  </a:lnTo>
                  <a:lnTo>
                    <a:pt x="8656320" y="10615549"/>
                  </a:lnTo>
                  <a:lnTo>
                    <a:pt x="8656320" y="8509"/>
                  </a:lnTo>
                  <a:lnTo>
                    <a:pt x="8664828" y="8509"/>
                  </a:lnTo>
                  <a:lnTo>
                    <a:pt x="86648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155680" y="1554480"/>
            <a:ext cx="6492240" cy="822960"/>
            <a:chOff x="0" y="0"/>
            <a:chExt cx="8656320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656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155680" y="1554480"/>
            <a:ext cx="6492240" cy="822960"/>
            <a:chOff x="0" y="0"/>
            <a:chExt cx="8656320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656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3715" r="0" b="-10371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865632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Défi RSNA Bone Age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430000" y="2779776"/>
            <a:ext cx="5852160" cy="1188720"/>
            <a:chOff x="0" y="0"/>
            <a:chExt cx="7802880" cy="15849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8028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612880" y="2889504"/>
            <a:ext cx="1645920" cy="457200"/>
            <a:chOff x="0" y="0"/>
            <a:chExt cx="2194560" cy="609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9456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1945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Données ·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612880" y="3328416"/>
            <a:ext cx="5486400" cy="512064"/>
            <a:chOff x="0" y="0"/>
            <a:chExt cx="7315200" cy="6827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Radiographies main gauche pédiatrique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430000" y="4334256"/>
            <a:ext cx="5852160" cy="1188720"/>
            <a:chOff x="0" y="0"/>
            <a:chExt cx="7802880" cy="15849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8028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612880" y="4443984"/>
            <a:ext cx="1645920" cy="457200"/>
            <a:chOff x="0" y="0"/>
            <a:chExt cx="2194560" cy="6096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9456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21945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Tâche ·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612880" y="4882896"/>
            <a:ext cx="5486400" cy="512064"/>
            <a:chOff x="0" y="0"/>
            <a:chExt cx="7315200" cy="68275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Régression continue (valeur en mois)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430000" y="5888736"/>
            <a:ext cx="5852160" cy="1188720"/>
            <a:chOff x="0" y="0"/>
            <a:chExt cx="7802880" cy="15849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8028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612880" y="5998464"/>
            <a:ext cx="1645920" cy="457200"/>
            <a:chOff x="0" y="0"/>
            <a:chExt cx="2194560" cy="6096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19456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1945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Métrique ·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612880" y="6437376"/>
            <a:ext cx="5486400" cy="512064"/>
            <a:chOff x="0" y="0"/>
            <a:chExt cx="7315200" cy="682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MAE (Mean Absolute Error)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430000" y="7443216"/>
            <a:ext cx="5852160" cy="1188720"/>
            <a:chOff x="0" y="0"/>
            <a:chExt cx="7802880" cy="15849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8028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1612880" y="7552944"/>
            <a:ext cx="1645920" cy="457200"/>
            <a:chOff x="0" y="0"/>
            <a:chExt cx="2194560" cy="6096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19456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21945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Compétition ·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1612880" y="7991856"/>
            <a:ext cx="5486400" cy="512064"/>
            <a:chOff x="0" y="0"/>
            <a:chExt cx="7315200" cy="68275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RSNA 2017 — Kaggle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79578" y="734131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87923">
            <a:off x="11169849" y="-3862563"/>
            <a:ext cx="7032580" cy="7216267"/>
          </a:xfrm>
          <a:custGeom>
            <a:avLst/>
            <a:gdLst/>
            <a:ahLst/>
            <a:cxnLst/>
            <a:rect r="r" b="b" t="t" l="l"/>
            <a:pathLst>
              <a:path h="7216267" w="7032580">
                <a:moveTo>
                  <a:pt x="0" y="0"/>
                </a:moveTo>
                <a:lnTo>
                  <a:pt x="7032580" y="0"/>
                </a:lnTo>
                <a:lnTo>
                  <a:pt x="7032580" y="7216267"/>
                </a:lnTo>
                <a:lnTo>
                  <a:pt x="0" y="72162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188720"/>
            <a:chOff x="0" y="0"/>
            <a:chExt cx="243840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182880"/>
            <a:ext cx="16824960" cy="822960"/>
            <a:chOff x="0" y="0"/>
            <a:chExt cx="22433280" cy="10972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33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8360" r="0" b="-3483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2433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3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· DATASET &amp; PRÉTRAITEMENT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0080" y="1499616"/>
            <a:ext cx="3749040" cy="2103120"/>
            <a:chOff x="0" y="0"/>
            <a:chExt cx="4998720" cy="28041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98720" cy="2804160"/>
            </a:xfrm>
            <a:custGeom>
              <a:avLst/>
              <a:gdLst/>
              <a:ahLst/>
              <a:cxnLst/>
              <a:rect r="r" b="b" t="t" l="l"/>
              <a:pathLst>
                <a:path h="28041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40080" y="1645920"/>
            <a:ext cx="3749040" cy="1097280"/>
            <a:chOff x="0" y="0"/>
            <a:chExt cx="4998720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98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573" r="0" b="-1657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04775"/>
              <a:ext cx="499872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12 811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0080" y="2834640"/>
            <a:ext cx="3749040" cy="512064"/>
            <a:chOff x="0" y="0"/>
            <a:chExt cx="499872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98720" cy="682752"/>
            </a:xfrm>
            <a:custGeom>
              <a:avLst/>
              <a:gdLst/>
              <a:ahLst/>
              <a:cxnLst/>
              <a:rect r="r" b="b" t="t" l="l"/>
              <a:pathLst>
                <a:path h="682752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2658" r="0" b="-9265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998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B0D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Images total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846320" y="1499616"/>
            <a:ext cx="3749040" cy="2103120"/>
            <a:chOff x="0" y="0"/>
            <a:chExt cx="4998720" cy="2804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98720" cy="2804160"/>
            </a:xfrm>
            <a:custGeom>
              <a:avLst/>
              <a:gdLst/>
              <a:ahLst/>
              <a:cxnLst/>
              <a:rect r="r" b="b" t="t" l="l"/>
              <a:pathLst>
                <a:path h="28041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846320" y="1645920"/>
            <a:ext cx="3749040" cy="1097280"/>
            <a:chOff x="0" y="0"/>
            <a:chExt cx="4998720" cy="1463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98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573" r="0" b="-1657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04775"/>
              <a:ext cx="499872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10 088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846320" y="2834640"/>
            <a:ext cx="3749040" cy="512064"/>
            <a:chOff x="0" y="0"/>
            <a:chExt cx="4998720" cy="6827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98720" cy="682752"/>
            </a:xfrm>
            <a:custGeom>
              <a:avLst/>
              <a:gdLst/>
              <a:ahLst/>
              <a:cxnLst/>
              <a:rect r="r" b="b" t="t" l="l"/>
              <a:pathLst>
                <a:path h="682752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2658" r="0" b="-9265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998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B0D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Entraînement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052560" y="1499616"/>
            <a:ext cx="3749040" cy="2103120"/>
            <a:chOff x="0" y="0"/>
            <a:chExt cx="4998720" cy="2804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98720" cy="2804160"/>
            </a:xfrm>
            <a:custGeom>
              <a:avLst/>
              <a:gdLst/>
              <a:ahLst/>
              <a:cxnLst/>
              <a:rect r="r" b="b" t="t" l="l"/>
              <a:pathLst>
                <a:path h="28041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052560" y="1645920"/>
            <a:ext cx="3749040" cy="1097280"/>
            <a:chOff x="0" y="0"/>
            <a:chExt cx="4998720" cy="1463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998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573" r="0" b="-1657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04775"/>
              <a:ext cx="499872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2 523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052560" y="2834640"/>
            <a:ext cx="3749040" cy="512064"/>
            <a:chOff x="0" y="0"/>
            <a:chExt cx="4998720" cy="6827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98720" cy="682752"/>
            </a:xfrm>
            <a:custGeom>
              <a:avLst/>
              <a:gdLst/>
              <a:ahLst/>
              <a:cxnLst/>
              <a:rect r="r" b="b" t="t" l="l"/>
              <a:pathLst>
                <a:path h="682752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2658" r="0" b="-9265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998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B0D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Validation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258800" y="1499616"/>
            <a:ext cx="3749040" cy="2103120"/>
            <a:chOff x="0" y="0"/>
            <a:chExt cx="4998720" cy="28041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998720" cy="2804160"/>
            </a:xfrm>
            <a:custGeom>
              <a:avLst/>
              <a:gdLst/>
              <a:ahLst/>
              <a:cxnLst/>
              <a:rect r="r" b="b" t="t" l="l"/>
              <a:pathLst>
                <a:path h="28041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258800" y="1645920"/>
            <a:ext cx="3749040" cy="1097280"/>
            <a:chOff x="0" y="0"/>
            <a:chExt cx="4998720" cy="1463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998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573" r="0" b="-1657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04775"/>
              <a:ext cx="499872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16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258800" y="2834640"/>
            <a:ext cx="3749040" cy="512064"/>
            <a:chOff x="0" y="0"/>
            <a:chExt cx="499872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998720" cy="682752"/>
            </a:xfrm>
            <a:custGeom>
              <a:avLst/>
              <a:gdLst/>
              <a:ahLst/>
              <a:cxnLst/>
              <a:rect r="r" b="b" t="t" l="l"/>
              <a:pathLst>
                <a:path h="682752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2658" r="0" b="-9265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998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Batch size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31520" y="4023360"/>
            <a:ext cx="10058400" cy="768096"/>
            <a:chOff x="0" y="0"/>
            <a:chExt cx="13411200" cy="102412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411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5161" r="0" b="-20516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1341120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Étapes de prétraitement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33727" y="5022847"/>
            <a:ext cx="5224777" cy="1512313"/>
            <a:chOff x="0" y="0"/>
            <a:chExt cx="6966369" cy="201641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8509" y="8509"/>
              <a:ext cx="69494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0F9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966458" cy="2016506"/>
            </a:xfrm>
            <a:custGeom>
              <a:avLst/>
              <a:gdLst/>
              <a:ahLst/>
              <a:cxnLst/>
              <a:rect r="r" b="b" t="t" l="l"/>
              <a:pathLst>
                <a:path h="2016506" w="6966458">
                  <a:moveTo>
                    <a:pt x="8509" y="0"/>
                  </a:moveTo>
                  <a:lnTo>
                    <a:pt x="6957949" y="0"/>
                  </a:lnTo>
                  <a:cubicBezTo>
                    <a:pt x="6962648" y="0"/>
                    <a:pt x="6966458" y="3810"/>
                    <a:pt x="6966458" y="8509"/>
                  </a:cubicBezTo>
                  <a:lnTo>
                    <a:pt x="6966458" y="2007997"/>
                  </a:lnTo>
                  <a:cubicBezTo>
                    <a:pt x="6966458" y="2012696"/>
                    <a:pt x="6962648" y="2016506"/>
                    <a:pt x="6957949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6957949" y="1999488"/>
                  </a:lnTo>
                  <a:lnTo>
                    <a:pt x="6957949" y="2007997"/>
                  </a:lnTo>
                  <a:lnTo>
                    <a:pt x="6949440" y="2007997"/>
                  </a:lnTo>
                  <a:lnTo>
                    <a:pt x="6949440" y="8509"/>
                  </a:lnTo>
                  <a:lnTo>
                    <a:pt x="6957949" y="8509"/>
                  </a:lnTo>
                  <a:lnTo>
                    <a:pt x="6957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40080" y="5029200"/>
            <a:ext cx="877824" cy="1499616"/>
            <a:chOff x="0" y="0"/>
            <a:chExt cx="1170432" cy="199948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70432" cy="1999488"/>
            </a:xfrm>
            <a:custGeom>
              <a:avLst/>
              <a:gdLst/>
              <a:ahLst/>
              <a:cxnLst/>
              <a:rect r="r" b="b" t="t" l="l"/>
              <a:pathLst>
                <a:path h="199948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640080" y="5029200"/>
            <a:ext cx="877824" cy="1499616"/>
            <a:chOff x="0" y="0"/>
            <a:chExt cx="1170432" cy="199948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70432" cy="1999488"/>
            </a:xfrm>
            <a:custGeom>
              <a:avLst/>
              <a:gdLst/>
              <a:ahLst/>
              <a:cxnLst/>
              <a:rect r="r" b="b" t="t" l="l"/>
              <a:pathLst>
                <a:path h="199948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69185" t="0" r="-169185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1170432" cy="2047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⬇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700784" y="5138928"/>
            <a:ext cx="4023360" cy="512064"/>
            <a:chOff x="0" y="0"/>
            <a:chExt cx="5364480" cy="68275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53644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Téléchargement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700784" y="5669280"/>
            <a:ext cx="4023360" cy="731520"/>
            <a:chOff x="0" y="0"/>
            <a:chExt cx="5364480" cy="9753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53644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 Kaggle RSNA Bone Age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303007" y="5022847"/>
            <a:ext cx="5224777" cy="1512313"/>
            <a:chOff x="0" y="0"/>
            <a:chExt cx="6966369" cy="201641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8509" y="8509"/>
              <a:ext cx="69494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0F9FF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966458" cy="2016506"/>
            </a:xfrm>
            <a:custGeom>
              <a:avLst/>
              <a:gdLst/>
              <a:ahLst/>
              <a:cxnLst/>
              <a:rect r="r" b="b" t="t" l="l"/>
              <a:pathLst>
                <a:path h="2016506" w="6966458">
                  <a:moveTo>
                    <a:pt x="8509" y="0"/>
                  </a:moveTo>
                  <a:lnTo>
                    <a:pt x="6957949" y="0"/>
                  </a:lnTo>
                  <a:cubicBezTo>
                    <a:pt x="6962648" y="0"/>
                    <a:pt x="6966458" y="3810"/>
                    <a:pt x="6966458" y="8509"/>
                  </a:cubicBezTo>
                  <a:lnTo>
                    <a:pt x="6966458" y="2007997"/>
                  </a:lnTo>
                  <a:cubicBezTo>
                    <a:pt x="6966458" y="2012696"/>
                    <a:pt x="6962648" y="2016506"/>
                    <a:pt x="6957949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6957949" y="1999488"/>
                  </a:lnTo>
                  <a:lnTo>
                    <a:pt x="6957949" y="2007997"/>
                  </a:lnTo>
                  <a:lnTo>
                    <a:pt x="6949440" y="2007997"/>
                  </a:lnTo>
                  <a:lnTo>
                    <a:pt x="6949440" y="8509"/>
                  </a:lnTo>
                  <a:lnTo>
                    <a:pt x="6957949" y="8509"/>
                  </a:lnTo>
                  <a:lnTo>
                    <a:pt x="6957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6309360" y="5029200"/>
            <a:ext cx="877824" cy="1499616"/>
            <a:chOff x="0" y="0"/>
            <a:chExt cx="1170432" cy="199948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70432" cy="1999488"/>
            </a:xfrm>
            <a:custGeom>
              <a:avLst/>
              <a:gdLst/>
              <a:ahLst/>
              <a:cxnLst/>
              <a:rect r="r" b="b" t="t" l="l"/>
              <a:pathLst>
                <a:path h="199948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6309360" y="5029200"/>
            <a:ext cx="877824" cy="1499616"/>
            <a:chOff x="0" y="0"/>
            <a:chExt cx="1170432" cy="199948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70432" cy="1999488"/>
            </a:xfrm>
            <a:custGeom>
              <a:avLst/>
              <a:gdLst/>
              <a:ahLst/>
              <a:cxnLst/>
              <a:rect r="r" b="b" t="t" l="l"/>
              <a:pathLst>
                <a:path h="199948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69185" t="0" r="-169185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1170432" cy="2047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🔍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370064" y="5138928"/>
            <a:ext cx="4023360" cy="512064"/>
            <a:chOff x="0" y="0"/>
            <a:chExt cx="5364480" cy="68275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53644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Exploration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370064" y="5669280"/>
            <a:ext cx="4023360" cy="731520"/>
            <a:chOff x="0" y="0"/>
            <a:chExt cx="5364480" cy="9753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53644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Distribution âge/genre, vérification images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1972287" y="5022847"/>
            <a:ext cx="5224777" cy="1512313"/>
            <a:chOff x="0" y="0"/>
            <a:chExt cx="6966369" cy="2016417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8509" y="8509"/>
              <a:ext cx="69494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0F9FF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966458" cy="2016506"/>
            </a:xfrm>
            <a:custGeom>
              <a:avLst/>
              <a:gdLst/>
              <a:ahLst/>
              <a:cxnLst/>
              <a:rect r="r" b="b" t="t" l="l"/>
              <a:pathLst>
                <a:path h="2016506" w="6966458">
                  <a:moveTo>
                    <a:pt x="8509" y="0"/>
                  </a:moveTo>
                  <a:lnTo>
                    <a:pt x="6957949" y="0"/>
                  </a:lnTo>
                  <a:cubicBezTo>
                    <a:pt x="6962648" y="0"/>
                    <a:pt x="6966458" y="3810"/>
                    <a:pt x="6966458" y="8509"/>
                  </a:cubicBezTo>
                  <a:lnTo>
                    <a:pt x="6966458" y="2007997"/>
                  </a:lnTo>
                  <a:cubicBezTo>
                    <a:pt x="6966458" y="2012696"/>
                    <a:pt x="6962648" y="2016506"/>
                    <a:pt x="6957949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6957949" y="1999488"/>
                  </a:lnTo>
                  <a:lnTo>
                    <a:pt x="6957949" y="2007997"/>
                  </a:lnTo>
                  <a:lnTo>
                    <a:pt x="6949440" y="2007997"/>
                  </a:lnTo>
                  <a:lnTo>
                    <a:pt x="6949440" y="8509"/>
                  </a:lnTo>
                  <a:lnTo>
                    <a:pt x="6957949" y="8509"/>
                  </a:lnTo>
                  <a:lnTo>
                    <a:pt x="6957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1978640" y="5029200"/>
            <a:ext cx="877824" cy="1499616"/>
            <a:chOff x="0" y="0"/>
            <a:chExt cx="1170432" cy="199948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70432" cy="1999488"/>
            </a:xfrm>
            <a:custGeom>
              <a:avLst/>
              <a:gdLst/>
              <a:ahLst/>
              <a:cxnLst/>
              <a:rect r="r" b="b" t="t" l="l"/>
              <a:pathLst>
                <a:path h="199948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1978640" y="5029200"/>
            <a:ext cx="877824" cy="1499616"/>
            <a:chOff x="0" y="0"/>
            <a:chExt cx="1170432" cy="199948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170432" cy="1999488"/>
            </a:xfrm>
            <a:custGeom>
              <a:avLst/>
              <a:gdLst/>
              <a:ahLst/>
              <a:cxnLst/>
              <a:rect r="r" b="b" t="t" l="l"/>
              <a:pathLst>
                <a:path h="199948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69185" t="0" r="-169185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1170432" cy="2047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↔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039344" y="5138928"/>
            <a:ext cx="4023360" cy="512064"/>
            <a:chOff x="0" y="0"/>
            <a:chExt cx="5364480" cy="68275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53644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Redimensionnement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039344" y="5669280"/>
            <a:ext cx="4023360" cy="731520"/>
            <a:chOff x="0" y="0"/>
            <a:chExt cx="5364480" cy="97536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53644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Compatible avec la mémoire GPU disponible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633727" y="7125967"/>
            <a:ext cx="5224777" cy="1512313"/>
            <a:chOff x="0" y="0"/>
            <a:chExt cx="6966369" cy="2016417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8509" y="8509"/>
              <a:ext cx="69494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0F9FF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966458" cy="2016506"/>
            </a:xfrm>
            <a:custGeom>
              <a:avLst/>
              <a:gdLst/>
              <a:ahLst/>
              <a:cxnLst/>
              <a:rect r="r" b="b" t="t" l="l"/>
              <a:pathLst>
                <a:path h="2016506" w="6966458">
                  <a:moveTo>
                    <a:pt x="8509" y="0"/>
                  </a:moveTo>
                  <a:lnTo>
                    <a:pt x="6957949" y="0"/>
                  </a:lnTo>
                  <a:cubicBezTo>
                    <a:pt x="6962648" y="0"/>
                    <a:pt x="6966458" y="3810"/>
                    <a:pt x="6966458" y="8509"/>
                  </a:cubicBezTo>
                  <a:lnTo>
                    <a:pt x="6966458" y="2007997"/>
                  </a:lnTo>
                  <a:cubicBezTo>
                    <a:pt x="6966458" y="2012696"/>
                    <a:pt x="6962648" y="2016506"/>
                    <a:pt x="6957949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6957949" y="1999488"/>
                  </a:lnTo>
                  <a:lnTo>
                    <a:pt x="6957949" y="2007997"/>
                  </a:lnTo>
                  <a:lnTo>
                    <a:pt x="6949440" y="2007997"/>
                  </a:lnTo>
                  <a:lnTo>
                    <a:pt x="6949440" y="8509"/>
                  </a:lnTo>
                  <a:lnTo>
                    <a:pt x="6957949" y="8509"/>
                  </a:lnTo>
                  <a:lnTo>
                    <a:pt x="6957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640080" y="7132320"/>
            <a:ext cx="877824" cy="1499616"/>
            <a:chOff x="0" y="0"/>
            <a:chExt cx="1170432" cy="199948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170432" cy="1999488"/>
            </a:xfrm>
            <a:custGeom>
              <a:avLst/>
              <a:gdLst/>
              <a:ahLst/>
              <a:cxnLst/>
              <a:rect r="r" b="b" t="t" l="l"/>
              <a:pathLst>
                <a:path h="199948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640080" y="7132320"/>
            <a:ext cx="877824" cy="1499616"/>
            <a:chOff x="0" y="0"/>
            <a:chExt cx="1170432" cy="199948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170432" cy="1999488"/>
            </a:xfrm>
            <a:custGeom>
              <a:avLst/>
              <a:gdLst/>
              <a:ahLst/>
              <a:cxnLst/>
              <a:rect r="r" b="b" t="t" l="l"/>
              <a:pathLst>
                <a:path h="199948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69185" t="0" r="-169185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47625"/>
              <a:ext cx="1170432" cy="2047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÷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700784" y="7242048"/>
            <a:ext cx="4023360" cy="512064"/>
            <a:chOff x="0" y="0"/>
            <a:chExt cx="5364480" cy="68275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47625"/>
              <a:ext cx="53644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Normalisation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700784" y="7772400"/>
            <a:ext cx="4023360" cy="731520"/>
            <a:chOff x="0" y="0"/>
            <a:chExt cx="5364480" cy="97536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53644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Rescaling des pixels [0, 1]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6303007" y="7125967"/>
            <a:ext cx="5224777" cy="1512313"/>
            <a:chOff x="0" y="0"/>
            <a:chExt cx="6966369" cy="2016417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8509" y="8509"/>
              <a:ext cx="69494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0F9FF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966458" cy="2016506"/>
            </a:xfrm>
            <a:custGeom>
              <a:avLst/>
              <a:gdLst/>
              <a:ahLst/>
              <a:cxnLst/>
              <a:rect r="r" b="b" t="t" l="l"/>
              <a:pathLst>
                <a:path h="2016506" w="6966458">
                  <a:moveTo>
                    <a:pt x="8509" y="0"/>
                  </a:moveTo>
                  <a:lnTo>
                    <a:pt x="6957949" y="0"/>
                  </a:lnTo>
                  <a:cubicBezTo>
                    <a:pt x="6962648" y="0"/>
                    <a:pt x="6966458" y="3810"/>
                    <a:pt x="6966458" y="8509"/>
                  </a:cubicBezTo>
                  <a:lnTo>
                    <a:pt x="6966458" y="2007997"/>
                  </a:lnTo>
                  <a:cubicBezTo>
                    <a:pt x="6966458" y="2012696"/>
                    <a:pt x="6962648" y="2016506"/>
                    <a:pt x="6957949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6957949" y="1999488"/>
                  </a:lnTo>
                  <a:lnTo>
                    <a:pt x="6957949" y="2007997"/>
                  </a:lnTo>
                  <a:lnTo>
                    <a:pt x="6949440" y="2007997"/>
                  </a:lnTo>
                  <a:lnTo>
                    <a:pt x="6949440" y="8509"/>
                  </a:lnTo>
                  <a:lnTo>
                    <a:pt x="6957949" y="8509"/>
                  </a:lnTo>
                  <a:lnTo>
                    <a:pt x="6957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6309360" y="7132320"/>
            <a:ext cx="877824" cy="1499616"/>
            <a:chOff x="0" y="0"/>
            <a:chExt cx="1170432" cy="199948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170432" cy="1999488"/>
            </a:xfrm>
            <a:custGeom>
              <a:avLst/>
              <a:gdLst/>
              <a:ahLst/>
              <a:cxnLst/>
              <a:rect r="r" b="b" t="t" l="l"/>
              <a:pathLst>
                <a:path h="199948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6309360" y="7132320"/>
            <a:ext cx="877824" cy="1499616"/>
            <a:chOff x="0" y="0"/>
            <a:chExt cx="1170432" cy="199948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170432" cy="1999488"/>
            </a:xfrm>
            <a:custGeom>
              <a:avLst/>
              <a:gdLst/>
              <a:ahLst/>
              <a:cxnLst/>
              <a:rect r="r" b="b" t="t" l="l"/>
              <a:pathLst>
                <a:path h="199948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69185" t="0" r="-169185" b="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1170432" cy="2047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⟳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7370064" y="7242048"/>
            <a:ext cx="4023360" cy="512064"/>
            <a:chOff x="0" y="0"/>
            <a:chExt cx="5364480" cy="68275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47625"/>
              <a:ext cx="53644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Augmentation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7370064" y="7772400"/>
            <a:ext cx="4023360" cy="731520"/>
            <a:chOff x="0" y="0"/>
            <a:chExt cx="5364480" cy="97536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53644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Rotation, zoom, translation (sans flip H)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1965943" y="4010663"/>
            <a:ext cx="5694683" cy="4780283"/>
            <a:chOff x="0" y="0"/>
            <a:chExt cx="7592911" cy="6373711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16891" y="16891"/>
              <a:ext cx="7559040" cy="6339840"/>
            </a:xfrm>
            <a:custGeom>
              <a:avLst/>
              <a:gdLst/>
              <a:ahLst/>
              <a:cxnLst/>
              <a:rect r="r" b="b" t="t" l="l"/>
              <a:pathLst>
                <a:path h="6339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339840"/>
                  </a:lnTo>
                  <a:lnTo>
                    <a:pt x="0" y="6339840"/>
                  </a:lnTo>
                  <a:close/>
                </a:path>
              </a:pathLst>
            </a:custGeom>
            <a:solidFill>
              <a:srgbClr val="FFF7E6"/>
            </a:solidFill>
          </p:spPr>
        </p:sp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7592822" cy="6373622"/>
            </a:xfrm>
            <a:custGeom>
              <a:avLst/>
              <a:gdLst/>
              <a:ahLst/>
              <a:cxnLst/>
              <a:rect r="r" b="b" t="t" l="l"/>
              <a:pathLst>
                <a:path h="637362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6356731"/>
                  </a:lnTo>
                  <a:cubicBezTo>
                    <a:pt x="7592822" y="6366129"/>
                    <a:pt x="7585202" y="6373622"/>
                    <a:pt x="7575931" y="6373622"/>
                  </a:cubicBezTo>
                  <a:lnTo>
                    <a:pt x="16891" y="6373622"/>
                  </a:lnTo>
                  <a:cubicBezTo>
                    <a:pt x="7493" y="6373622"/>
                    <a:pt x="0" y="6366002"/>
                    <a:pt x="0" y="6356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356731"/>
                  </a:lnTo>
                  <a:lnTo>
                    <a:pt x="16891" y="6356731"/>
                  </a:lnTo>
                  <a:lnTo>
                    <a:pt x="16891" y="6339840"/>
                  </a:lnTo>
                  <a:lnTo>
                    <a:pt x="7575931" y="6339840"/>
                  </a:lnTo>
                  <a:lnTo>
                    <a:pt x="7575931" y="6356731"/>
                  </a:lnTo>
                  <a:lnTo>
                    <a:pt x="7559040" y="6356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1978640" y="4023360"/>
            <a:ext cx="5669280" cy="768096"/>
            <a:chOff x="0" y="0"/>
            <a:chExt cx="7559040" cy="1024128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7559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1978640" y="4023360"/>
            <a:ext cx="5669280" cy="768096"/>
            <a:chOff x="0" y="0"/>
            <a:chExt cx="7559040" cy="102412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7559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3818" r="0" b="-93818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47625"/>
              <a:ext cx="75590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Point clé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2161520" y="4974336"/>
            <a:ext cx="5303520" cy="3657600"/>
            <a:chOff x="0" y="0"/>
            <a:chExt cx="7071360" cy="48768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707136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8485" t="0" r="-38485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47625"/>
              <a:ext cx="7071360" cy="4924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7C47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 flip horizontal est exclu de l'augmentation car il inverserait la latéralité de la main (main droite vs gauche).</a:t>
              </a:r>
            </a:p>
            <a:p>
              <a:pPr algn="l">
                <a:lnSpc>
                  <a:spcPts val="2640"/>
                </a:lnSpc>
              </a:pP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7C47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Les générateurs tf.data évitent de charger toutes les images en mémoire simultanément.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79578" y="734131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43121" y="-8127816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188720"/>
            <a:chOff x="0" y="0"/>
            <a:chExt cx="243840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182880"/>
            <a:ext cx="16824960" cy="822960"/>
            <a:chOff x="0" y="0"/>
            <a:chExt cx="22433280" cy="10972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33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48360" r="0" b="-3483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2433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3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· BASELINE CNN — FROM SCRATCH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" y="1554480"/>
            <a:ext cx="2011680" cy="2926080"/>
            <a:chOff x="0" y="0"/>
            <a:chExt cx="2682240" cy="3901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82240" cy="3901440"/>
            </a:xfrm>
            <a:custGeom>
              <a:avLst/>
              <a:gdLst/>
              <a:ahLst/>
              <a:cxnLst/>
              <a:rect r="r" b="b" t="t" l="l"/>
              <a:pathLst>
                <a:path h="39014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48640" y="1554480"/>
            <a:ext cx="2011680" cy="2926080"/>
            <a:chOff x="0" y="0"/>
            <a:chExt cx="2682240" cy="3901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82240" cy="3901440"/>
            </a:xfrm>
            <a:custGeom>
              <a:avLst/>
              <a:gdLst/>
              <a:ahLst/>
              <a:cxnLst/>
              <a:rect r="r" b="b" t="t" l="l"/>
              <a:pathLst>
                <a:path h="39014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36623" t="0" r="-13662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682240" cy="393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224×224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541270" y="2998470"/>
            <a:ext cx="312420" cy="38100"/>
            <a:chOff x="0" y="0"/>
            <a:chExt cx="416560" cy="50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0" y="0"/>
              <a:ext cx="365760" cy="50800"/>
            </a:xfrm>
            <a:custGeom>
              <a:avLst/>
              <a:gdLst/>
              <a:ahLst/>
              <a:cxnLst/>
              <a:rect r="r" b="b" t="t" l="l"/>
              <a:pathLst>
                <a:path h="508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834640" y="1554480"/>
            <a:ext cx="1645920" cy="2926080"/>
            <a:chOff x="0" y="0"/>
            <a:chExt cx="2194560" cy="3901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" cy="3901440"/>
            </a:xfrm>
            <a:custGeom>
              <a:avLst/>
              <a:gdLst/>
              <a:ahLst/>
              <a:cxnLst/>
              <a:rect r="r" b="b" t="t" l="l"/>
              <a:pathLst>
                <a:path h="39014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834640" y="1554480"/>
            <a:ext cx="1645920" cy="2926080"/>
            <a:chOff x="0" y="0"/>
            <a:chExt cx="2194560" cy="3901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3901440"/>
            </a:xfrm>
            <a:custGeom>
              <a:avLst/>
              <a:gdLst/>
              <a:ahLst/>
              <a:cxnLst/>
              <a:rect r="r" b="b" t="t" l="l"/>
              <a:pathLst>
                <a:path h="39014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78095" t="0" r="-178095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194560" cy="393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Conv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+ReLU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461510" y="2998470"/>
            <a:ext cx="312420" cy="38100"/>
            <a:chOff x="0" y="0"/>
            <a:chExt cx="416560" cy="50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5400" y="0"/>
              <a:ext cx="365760" cy="50800"/>
            </a:xfrm>
            <a:custGeom>
              <a:avLst/>
              <a:gdLst/>
              <a:ahLst/>
              <a:cxnLst/>
              <a:rect r="r" b="b" t="t" l="l"/>
              <a:pathLst>
                <a:path h="508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754880" y="1554480"/>
            <a:ext cx="1554480" cy="2926080"/>
            <a:chOff x="0" y="0"/>
            <a:chExt cx="2072640" cy="3901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72640" cy="3901440"/>
            </a:xfrm>
            <a:custGeom>
              <a:avLst/>
              <a:gdLst/>
              <a:ahLst/>
              <a:cxnLst/>
              <a:rect r="r" b="b" t="t" l="l"/>
              <a:pathLst>
                <a:path h="39014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3B6978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4754880" y="1554480"/>
            <a:ext cx="1554480" cy="2926080"/>
            <a:chOff x="0" y="0"/>
            <a:chExt cx="2072640" cy="39014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72640" cy="3901440"/>
            </a:xfrm>
            <a:custGeom>
              <a:avLst/>
              <a:gdLst/>
              <a:ahLst/>
              <a:cxnLst/>
              <a:rect r="r" b="b" t="t" l="l"/>
              <a:pathLst>
                <a:path h="39014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91512" t="0" r="-19151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072640" cy="393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MaxPool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290310" y="2998470"/>
            <a:ext cx="312420" cy="38100"/>
            <a:chOff x="0" y="0"/>
            <a:chExt cx="416560" cy="50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25400" y="0"/>
              <a:ext cx="365760" cy="50800"/>
            </a:xfrm>
            <a:custGeom>
              <a:avLst/>
              <a:gdLst/>
              <a:ahLst/>
              <a:cxnLst/>
              <a:rect r="r" b="b" t="t" l="l"/>
              <a:pathLst>
                <a:path h="508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583680" y="1554480"/>
            <a:ext cx="1645920" cy="2926080"/>
            <a:chOff x="0" y="0"/>
            <a:chExt cx="2194560" cy="39014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0" cy="3901440"/>
            </a:xfrm>
            <a:custGeom>
              <a:avLst/>
              <a:gdLst/>
              <a:ahLst/>
              <a:cxnLst/>
              <a:rect r="r" b="b" t="t" l="l"/>
              <a:pathLst>
                <a:path h="39014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583680" y="1554480"/>
            <a:ext cx="1645920" cy="2926080"/>
            <a:chOff x="0" y="0"/>
            <a:chExt cx="2194560" cy="3901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94560" cy="3901440"/>
            </a:xfrm>
            <a:custGeom>
              <a:avLst/>
              <a:gdLst/>
              <a:ahLst/>
              <a:cxnLst/>
              <a:rect r="r" b="b" t="t" l="l"/>
              <a:pathLst>
                <a:path h="39014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78095" t="0" r="-178095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194560" cy="393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Conv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+ReLU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10550" y="2998470"/>
            <a:ext cx="312420" cy="38100"/>
            <a:chOff x="0" y="0"/>
            <a:chExt cx="416560" cy="50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25400" y="0"/>
              <a:ext cx="365760" cy="50800"/>
            </a:xfrm>
            <a:custGeom>
              <a:avLst/>
              <a:gdLst/>
              <a:ahLst/>
              <a:cxnLst/>
              <a:rect r="r" b="b" t="t" l="l"/>
              <a:pathLst>
                <a:path h="508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503920" y="1554480"/>
            <a:ext cx="1554480" cy="2926080"/>
            <a:chOff x="0" y="0"/>
            <a:chExt cx="2072640" cy="39014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72640" cy="3901440"/>
            </a:xfrm>
            <a:custGeom>
              <a:avLst/>
              <a:gdLst/>
              <a:ahLst/>
              <a:cxnLst/>
              <a:rect r="r" b="b" t="t" l="l"/>
              <a:pathLst>
                <a:path h="39014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3B6978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503920" y="1554480"/>
            <a:ext cx="1554480" cy="2926080"/>
            <a:chOff x="0" y="0"/>
            <a:chExt cx="2072640" cy="390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72640" cy="3901440"/>
            </a:xfrm>
            <a:custGeom>
              <a:avLst/>
              <a:gdLst/>
              <a:ahLst/>
              <a:cxnLst/>
              <a:rect r="r" b="b" t="t" l="l"/>
              <a:pathLst>
                <a:path h="39014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91512" t="0" r="-191512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2072640" cy="393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MaxPool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039350" y="2998470"/>
            <a:ext cx="312420" cy="38100"/>
            <a:chOff x="0" y="0"/>
            <a:chExt cx="416560" cy="50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25400" y="0"/>
              <a:ext cx="365760" cy="50800"/>
            </a:xfrm>
            <a:custGeom>
              <a:avLst/>
              <a:gdLst/>
              <a:ahLst/>
              <a:cxnLst/>
              <a:rect r="r" b="b" t="t" l="l"/>
              <a:pathLst>
                <a:path h="508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332720" y="1554480"/>
            <a:ext cx="1463040" cy="2926080"/>
            <a:chOff x="0" y="0"/>
            <a:chExt cx="1950720" cy="3901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50720" cy="3901440"/>
            </a:xfrm>
            <a:custGeom>
              <a:avLst/>
              <a:gdLst/>
              <a:ahLst/>
              <a:cxnLst/>
              <a:rect r="r" b="b" t="t" l="l"/>
              <a:pathLst>
                <a:path h="390144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84A9AC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332720" y="1554480"/>
            <a:ext cx="1463040" cy="2926080"/>
            <a:chOff x="0" y="0"/>
            <a:chExt cx="1950720" cy="39014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50720" cy="3901440"/>
            </a:xfrm>
            <a:custGeom>
              <a:avLst/>
              <a:gdLst/>
              <a:ahLst/>
              <a:cxnLst/>
              <a:rect r="r" b="b" t="t" l="l"/>
              <a:pathLst>
                <a:path h="390144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950720" cy="393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Flatten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776710" y="2998470"/>
            <a:ext cx="312420" cy="38100"/>
            <a:chOff x="0" y="0"/>
            <a:chExt cx="416560" cy="50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25400" y="0"/>
              <a:ext cx="365760" cy="50800"/>
            </a:xfrm>
            <a:custGeom>
              <a:avLst/>
              <a:gdLst/>
              <a:ahLst/>
              <a:cxnLst/>
              <a:rect r="r" b="b" t="t" l="l"/>
              <a:pathLst>
                <a:path h="508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070080" y="1554480"/>
            <a:ext cx="1645920" cy="2926080"/>
            <a:chOff x="0" y="0"/>
            <a:chExt cx="2194560" cy="39014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94560" cy="3901440"/>
            </a:xfrm>
            <a:custGeom>
              <a:avLst/>
              <a:gdLst/>
              <a:ahLst/>
              <a:cxnLst/>
              <a:rect r="r" b="b" t="t" l="l"/>
              <a:pathLst>
                <a:path h="39014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4A4E69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070080" y="1554480"/>
            <a:ext cx="1645920" cy="2926080"/>
            <a:chOff x="0" y="0"/>
            <a:chExt cx="2194560" cy="3901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94560" cy="3901440"/>
            </a:xfrm>
            <a:custGeom>
              <a:avLst/>
              <a:gdLst/>
              <a:ahLst/>
              <a:cxnLst/>
              <a:rect r="r" b="b" t="t" l="l"/>
              <a:pathLst>
                <a:path h="39014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78095" t="0" r="-178095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194560" cy="393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Dense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256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696950" y="2998470"/>
            <a:ext cx="312420" cy="38100"/>
            <a:chOff x="0" y="0"/>
            <a:chExt cx="416560" cy="50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25400" y="0"/>
              <a:ext cx="365760" cy="50800"/>
            </a:xfrm>
            <a:custGeom>
              <a:avLst/>
              <a:gdLst/>
              <a:ahLst/>
              <a:cxnLst/>
              <a:rect r="r" b="b" t="t" l="l"/>
              <a:pathLst>
                <a:path h="508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990320" y="1554480"/>
            <a:ext cx="1645920" cy="2926080"/>
            <a:chOff x="0" y="0"/>
            <a:chExt cx="2194560" cy="390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194560" cy="3901440"/>
            </a:xfrm>
            <a:custGeom>
              <a:avLst/>
              <a:gdLst/>
              <a:ahLst/>
              <a:cxnLst/>
              <a:rect r="r" b="b" t="t" l="l"/>
              <a:pathLst>
                <a:path h="39014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990320" y="1554480"/>
            <a:ext cx="1645920" cy="2926080"/>
            <a:chOff x="0" y="0"/>
            <a:chExt cx="2194560" cy="39014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194560" cy="3901440"/>
            </a:xfrm>
            <a:custGeom>
              <a:avLst/>
              <a:gdLst/>
              <a:ahLst/>
              <a:cxnLst/>
              <a:rect r="r" b="b" t="t" l="l"/>
              <a:pathLst>
                <a:path h="39014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78095" t="0" r="-178095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2194560" cy="393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(mois)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731520" y="4754880"/>
            <a:ext cx="16824960" cy="640080"/>
            <a:chOff x="0" y="0"/>
            <a:chExt cx="22433280" cy="8534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2243328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Architecture convolutionnelle simple — référence de performance sans régularisation avancée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31520" y="5669280"/>
            <a:ext cx="10058400" cy="768096"/>
            <a:chOff x="0" y="0"/>
            <a:chExt cx="13411200" cy="102412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3411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161" r="0" b="-20516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66675"/>
              <a:ext cx="1341120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Résultats observés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18823" y="6570983"/>
            <a:ext cx="5054603" cy="2402843"/>
            <a:chOff x="0" y="0"/>
            <a:chExt cx="6739471" cy="320379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6891" y="16891"/>
              <a:ext cx="67056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0F9FF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7393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6739382">
                  <a:moveTo>
                    <a:pt x="16891" y="0"/>
                  </a:moveTo>
                  <a:lnTo>
                    <a:pt x="6722491" y="0"/>
                  </a:lnTo>
                  <a:cubicBezTo>
                    <a:pt x="6731889" y="0"/>
                    <a:pt x="6739382" y="7620"/>
                    <a:pt x="6739382" y="16891"/>
                  </a:cubicBezTo>
                  <a:lnTo>
                    <a:pt x="6739382" y="3186811"/>
                  </a:lnTo>
                  <a:cubicBezTo>
                    <a:pt x="6739382" y="3196209"/>
                    <a:pt x="6731762" y="3203702"/>
                    <a:pt x="672249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6722491" y="3169920"/>
                  </a:lnTo>
                  <a:lnTo>
                    <a:pt x="6722491" y="3186811"/>
                  </a:lnTo>
                  <a:lnTo>
                    <a:pt x="6705600" y="3186811"/>
                  </a:lnTo>
                  <a:lnTo>
                    <a:pt x="6705600" y="16891"/>
                  </a:lnTo>
                  <a:lnTo>
                    <a:pt x="6722491" y="16891"/>
                  </a:lnTo>
                  <a:lnTo>
                    <a:pt x="6722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731520" y="6766560"/>
            <a:ext cx="5029200" cy="1188720"/>
            <a:chOff x="0" y="0"/>
            <a:chExt cx="6705600" cy="158496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70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2436" r="0" b="-3243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76200"/>
              <a:ext cx="670560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33.95 mois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31520" y="8046720"/>
            <a:ext cx="5029200" cy="640080"/>
            <a:chOff x="0" y="0"/>
            <a:chExt cx="6705600" cy="853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70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6705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MAE Validation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296663" y="6570983"/>
            <a:ext cx="5054603" cy="2402843"/>
            <a:chOff x="0" y="0"/>
            <a:chExt cx="6739471" cy="320379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6891" y="16891"/>
              <a:ext cx="67056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0F9FF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7393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6739382">
                  <a:moveTo>
                    <a:pt x="16891" y="0"/>
                  </a:moveTo>
                  <a:lnTo>
                    <a:pt x="6722491" y="0"/>
                  </a:lnTo>
                  <a:cubicBezTo>
                    <a:pt x="6731889" y="0"/>
                    <a:pt x="6739382" y="7620"/>
                    <a:pt x="6739382" y="16891"/>
                  </a:cubicBezTo>
                  <a:lnTo>
                    <a:pt x="6739382" y="3186811"/>
                  </a:lnTo>
                  <a:cubicBezTo>
                    <a:pt x="6739382" y="3196209"/>
                    <a:pt x="6731762" y="3203702"/>
                    <a:pt x="672249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6722491" y="3169920"/>
                  </a:lnTo>
                  <a:lnTo>
                    <a:pt x="6722491" y="3186811"/>
                  </a:lnTo>
                  <a:lnTo>
                    <a:pt x="6705600" y="3186811"/>
                  </a:lnTo>
                  <a:lnTo>
                    <a:pt x="6705600" y="16891"/>
                  </a:lnTo>
                  <a:lnTo>
                    <a:pt x="6722491" y="16891"/>
                  </a:lnTo>
                  <a:lnTo>
                    <a:pt x="6722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6309360" y="6766560"/>
            <a:ext cx="5029200" cy="1188720"/>
            <a:chOff x="0" y="0"/>
            <a:chExt cx="6705600" cy="158496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70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2436" r="0" b="-32436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76200"/>
              <a:ext cx="670560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1 781.33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6309360" y="8046720"/>
            <a:ext cx="5029200" cy="640080"/>
            <a:chOff x="0" y="0"/>
            <a:chExt cx="6705600" cy="8534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70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6705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MSE Validation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1874503" y="6570983"/>
            <a:ext cx="5054603" cy="2402843"/>
            <a:chOff x="0" y="0"/>
            <a:chExt cx="6739471" cy="320379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16891" y="16891"/>
              <a:ext cx="67056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0F9FF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7393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6739382">
                  <a:moveTo>
                    <a:pt x="16891" y="0"/>
                  </a:moveTo>
                  <a:lnTo>
                    <a:pt x="6722491" y="0"/>
                  </a:lnTo>
                  <a:cubicBezTo>
                    <a:pt x="6731889" y="0"/>
                    <a:pt x="6739382" y="7620"/>
                    <a:pt x="6739382" y="16891"/>
                  </a:cubicBezTo>
                  <a:lnTo>
                    <a:pt x="6739382" y="3186811"/>
                  </a:lnTo>
                  <a:cubicBezTo>
                    <a:pt x="6739382" y="3196209"/>
                    <a:pt x="6731762" y="3203702"/>
                    <a:pt x="672249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6722491" y="3169920"/>
                  </a:lnTo>
                  <a:lnTo>
                    <a:pt x="6722491" y="3186811"/>
                  </a:lnTo>
                  <a:lnTo>
                    <a:pt x="6705600" y="3186811"/>
                  </a:lnTo>
                  <a:lnTo>
                    <a:pt x="6705600" y="16891"/>
                  </a:lnTo>
                  <a:lnTo>
                    <a:pt x="6722491" y="16891"/>
                  </a:lnTo>
                  <a:lnTo>
                    <a:pt x="6722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1887200" y="6766560"/>
            <a:ext cx="5029200" cy="1188720"/>
            <a:chOff x="0" y="0"/>
            <a:chExt cx="6705600" cy="158496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70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2436" r="0" b="-32436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76200"/>
              <a:ext cx="670560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1887200" y="8046720"/>
            <a:ext cx="5029200" cy="640080"/>
            <a:chOff x="0" y="0"/>
            <a:chExt cx="6705600" cy="8534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70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47625"/>
              <a:ext cx="6705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R² (non mesuré)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2063727" y="5662927"/>
            <a:ext cx="5590537" cy="3395977"/>
            <a:chOff x="0" y="0"/>
            <a:chExt cx="7454049" cy="4527969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8509" y="8509"/>
              <a:ext cx="7437119" cy="4511040"/>
            </a:xfrm>
            <a:custGeom>
              <a:avLst/>
              <a:gdLst/>
              <a:ahLst/>
              <a:cxnLst/>
              <a:rect r="r" b="b" t="t" l="l"/>
              <a:pathLst>
                <a:path h="4511040" w="7437119">
                  <a:moveTo>
                    <a:pt x="0" y="0"/>
                  </a:moveTo>
                  <a:lnTo>
                    <a:pt x="7437119" y="0"/>
                  </a:lnTo>
                  <a:lnTo>
                    <a:pt x="7437119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0F9FF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7454138" cy="4528058"/>
            </a:xfrm>
            <a:custGeom>
              <a:avLst/>
              <a:gdLst/>
              <a:ahLst/>
              <a:cxnLst/>
              <a:rect r="r" b="b" t="t" l="l"/>
              <a:pathLst>
                <a:path h="4528058" w="7454138">
                  <a:moveTo>
                    <a:pt x="8509" y="0"/>
                  </a:moveTo>
                  <a:lnTo>
                    <a:pt x="7445628" y="0"/>
                  </a:lnTo>
                  <a:cubicBezTo>
                    <a:pt x="7450327" y="0"/>
                    <a:pt x="7454138" y="3810"/>
                    <a:pt x="7454138" y="8509"/>
                  </a:cubicBezTo>
                  <a:lnTo>
                    <a:pt x="7454138" y="4519549"/>
                  </a:lnTo>
                  <a:cubicBezTo>
                    <a:pt x="7454138" y="4524248"/>
                    <a:pt x="7450327" y="4528058"/>
                    <a:pt x="7445628" y="4528058"/>
                  </a:cubicBezTo>
                  <a:lnTo>
                    <a:pt x="8509" y="4528058"/>
                  </a:lnTo>
                  <a:cubicBezTo>
                    <a:pt x="3810" y="4528058"/>
                    <a:pt x="0" y="4524248"/>
                    <a:pt x="0" y="45195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519549"/>
                  </a:lnTo>
                  <a:lnTo>
                    <a:pt x="8509" y="4519549"/>
                  </a:lnTo>
                  <a:lnTo>
                    <a:pt x="8509" y="4511040"/>
                  </a:lnTo>
                  <a:lnTo>
                    <a:pt x="7445628" y="4511040"/>
                  </a:lnTo>
                  <a:lnTo>
                    <a:pt x="7445628" y="4519549"/>
                  </a:lnTo>
                  <a:lnTo>
                    <a:pt x="7437120" y="4519549"/>
                  </a:lnTo>
                  <a:lnTo>
                    <a:pt x="7437120" y="8509"/>
                  </a:lnTo>
                  <a:lnTo>
                    <a:pt x="7445628" y="8509"/>
                  </a:lnTo>
                  <a:lnTo>
                    <a:pt x="74456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2252960" y="5815584"/>
            <a:ext cx="5212080" cy="640080"/>
            <a:chOff x="0" y="0"/>
            <a:chExt cx="6949440" cy="8534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6949440" cy="853440"/>
            </a:xfrm>
            <a:custGeom>
              <a:avLst/>
              <a:gdLst/>
              <a:ahLst/>
              <a:cxnLst/>
              <a:rect r="r" b="b" t="t" l="l"/>
              <a:pathLst>
                <a:path h="8534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8663" r="0" b="-108663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69494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Observations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2252960" y="6583680"/>
            <a:ext cx="5212080" cy="2194560"/>
            <a:chOff x="0" y="0"/>
            <a:chExt cx="6949440" cy="292608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69494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4022" t="0" r="-4022" b="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47625"/>
              <a:ext cx="6949440" cy="2973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</a:t>
              </a: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Forte erreur de ~34 mois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</a:t>
              </a: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Signes d'overfitting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</a:t>
              </a: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Sert de référence initiale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70458" y="6971664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7" y="0"/>
                </a:lnTo>
                <a:lnTo>
                  <a:pt x="7616557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59121">
            <a:off x="16521286" y="190534"/>
            <a:ext cx="7629294" cy="7828566"/>
          </a:xfrm>
          <a:custGeom>
            <a:avLst/>
            <a:gdLst/>
            <a:ahLst/>
            <a:cxnLst/>
            <a:rect r="r" b="b" t="t" l="l"/>
            <a:pathLst>
              <a:path h="7828566" w="7629294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188720"/>
            <a:chOff x="0" y="0"/>
            <a:chExt cx="243840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182880"/>
            <a:ext cx="16824960" cy="822960"/>
            <a:chOff x="0" y="0"/>
            <a:chExt cx="22433280" cy="10972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33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8360" r="0" b="-3483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2433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3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RÉGULARISATION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31520" y="1426464"/>
            <a:ext cx="16824960" cy="640080"/>
            <a:chOff x="0" y="0"/>
            <a:chExt cx="22433280" cy="853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243328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Amélioration de la baseline avec des techniques de régularisation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33727" y="2371087"/>
            <a:ext cx="8059417" cy="2390137"/>
            <a:chOff x="0" y="0"/>
            <a:chExt cx="10745889" cy="31868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8509" y="8509"/>
              <a:ext cx="10728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0F9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45978" cy="3186938"/>
            </a:xfrm>
            <a:custGeom>
              <a:avLst/>
              <a:gdLst/>
              <a:ahLst/>
              <a:cxnLst/>
              <a:rect r="r" b="b" t="t" l="l"/>
              <a:pathLst>
                <a:path h="318693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3178429"/>
                  </a:lnTo>
                  <a:cubicBezTo>
                    <a:pt x="10745978" y="3183128"/>
                    <a:pt x="10742168" y="3186938"/>
                    <a:pt x="10737469" y="3186938"/>
                  </a:cubicBezTo>
                  <a:lnTo>
                    <a:pt x="8509" y="3186938"/>
                  </a:lnTo>
                  <a:cubicBezTo>
                    <a:pt x="3810" y="3186938"/>
                    <a:pt x="0" y="3183128"/>
                    <a:pt x="0" y="31784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178429"/>
                  </a:lnTo>
                  <a:lnTo>
                    <a:pt x="8509" y="3178429"/>
                  </a:lnTo>
                  <a:lnTo>
                    <a:pt x="8509" y="3169920"/>
                  </a:lnTo>
                  <a:lnTo>
                    <a:pt x="10737469" y="3169920"/>
                  </a:lnTo>
                  <a:lnTo>
                    <a:pt x="10737469" y="3178429"/>
                  </a:lnTo>
                  <a:lnTo>
                    <a:pt x="10728960" y="317842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40080" y="2377440"/>
            <a:ext cx="1188720" cy="2377440"/>
            <a:chOff x="0" y="0"/>
            <a:chExt cx="1584960" cy="3169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84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0080" y="2377440"/>
            <a:ext cx="1188720" cy="2377440"/>
            <a:chOff x="0" y="0"/>
            <a:chExt cx="1584960" cy="3169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84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584960" cy="3236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⊞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011680" y="2560320"/>
            <a:ext cx="6492240" cy="640080"/>
            <a:chOff x="0" y="0"/>
            <a:chExt cx="865632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56320" cy="853440"/>
            </a:xfrm>
            <a:custGeom>
              <a:avLst/>
              <a:gdLst/>
              <a:ahLst/>
              <a:cxnLst/>
              <a:rect r="r" b="b" t="t" l="l"/>
              <a:pathLst>
                <a:path h="85344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7633" r="0" b="-14763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6563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Batch Normalization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011680" y="3255264"/>
            <a:ext cx="6492240" cy="1316736"/>
            <a:chOff x="0" y="0"/>
            <a:chExt cx="8656320" cy="17556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656320" cy="1755648"/>
            </a:xfrm>
            <a:custGeom>
              <a:avLst/>
              <a:gdLst/>
              <a:ahLst/>
              <a:cxnLst/>
              <a:rect r="r" b="b" t="t" l="l"/>
              <a:pathLst>
                <a:path h="1755648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072" r="0" b="-4607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8656320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Après les blocs convolutionnels — normalise les activations, stabilise l'entraînement et accélère la convergence.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20527" y="2371087"/>
            <a:ext cx="8059417" cy="2390137"/>
            <a:chOff x="0" y="0"/>
            <a:chExt cx="10745889" cy="318684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8509" y="8509"/>
              <a:ext cx="10728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0F9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45978" cy="3186938"/>
            </a:xfrm>
            <a:custGeom>
              <a:avLst/>
              <a:gdLst/>
              <a:ahLst/>
              <a:cxnLst/>
              <a:rect r="r" b="b" t="t" l="l"/>
              <a:pathLst>
                <a:path h="318693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3178429"/>
                  </a:lnTo>
                  <a:cubicBezTo>
                    <a:pt x="10745978" y="3183128"/>
                    <a:pt x="10742168" y="3186938"/>
                    <a:pt x="10737469" y="3186938"/>
                  </a:cubicBezTo>
                  <a:lnTo>
                    <a:pt x="8509" y="3186938"/>
                  </a:lnTo>
                  <a:cubicBezTo>
                    <a:pt x="3810" y="3186938"/>
                    <a:pt x="0" y="3183128"/>
                    <a:pt x="0" y="31784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178429"/>
                  </a:lnTo>
                  <a:lnTo>
                    <a:pt x="8509" y="3178429"/>
                  </a:lnTo>
                  <a:lnTo>
                    <a:pt x="8509" y="3169920"/>
                  </a:lnTo>
                  <a:lnTo>
                    <a:pt x="10737469" y="3169920"/>
                  </a:lnTo>
                  <a:lnTo>
                    <a:pt x="10737469" y="3178429"/>
                  </a:lnTo>
                  <a:lnTo>
                    <a:pt x="10728960" y="317842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326880" y="2377440"/>
            <a:ext cx="1188720" cy="2377440"/>
            <a:chOff x="0" y="0"/>
            <a:chExt cx="1584960" cy="31699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84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326880" y="2377440"/>
            <a:ext cx="1188720" cy="2377440"/>
            <a:chOff x="0" y="0"/>
            <a:chExt cx="1584960" cy="31699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84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1584960" cy="3236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⊘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698480" y="2560320"/>
            <a:ext cx="6492240" cy="640080"/>
            <a:chOff x="0" y="0"/>
            <a:chExt cx="8656320" cy="853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656320" cy="853440"/>
            </a:xfrm>
            <a:custGeom>
              <a:avLst/>
              <a:gdLst/>
              <a:ahLst/>
              <a:cxnLst/>
              <a:rect r="r" b="b" t="t" l="l"/>
              <a:pathLst>
                <a:path h="85344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7633" r="0" b="-14763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86563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Dropout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698480" y="3255264"/>
            <a:ext cx="6492240" cy="1316736"/>
            <a:chOff x="0" y="0"/>
            <a:chExt cx="8656320" cy="175564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656320" cy="1755648"/>
            </a:xfrm>
            <a:custGeom>
              <a:avLst/>
              <a:gdLst/>
              <a:ahLst/>
              <a:cxnLst/>
              <a:rect r="r" b="b" t="t" l="l"/>
              <a:pathLst>
                <a:path h="1755648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072" r="0" b="-4607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8656320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Avant les couches denses — désactive aléatoirement des neurones pour forcer la robustesse du réseau.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33727" y="5205727"/>
            <a:ext cx="8059417" cy="2390137"/>
            <a:chOff x="0" y="0"/>
            <a:chExt cx="10745889" cy="318684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8509" y="8509"/>
              <a:ext cx="10728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0F9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745978" cy="3186938"/>
            </a:xfrm>
            <a:custGeom>
              <a:avLst/>
              <a:gdLst/>
              <a:ahLst/>
              <a:cxnLst/>
              <a:rect r="r" b="b" t="t" l="l"/>
              <a:pathLst>
                <a:path h="318693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3178429"/>
                  </a:lnTo>
                  <a:cubicBezTo>
                    <a:pt x="10745978" y="3183128"/>
                    <a:pt x="10742168" y="3186938"/>
                    <a:pt x="10737469" y="3186938"/>
                  </a:cubicBezTo>
                  <a:lnTo>
                    <a:pt x="8509" y="3186938"/>
                  </a:lnTo>
                  <a:cubicBezTo>
                    <a:pt x="3810" y="3186938"/>
                    <a:pt x="0" y="3183128"/>
                    <a:pt x="0" y="31784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178429"/>
                  </a:lnTo>
                  <a:lnTo>
                    <a:pt x="8509" y="3178429"/>
                  </a:lnTo>
                  <a:lnTo>
                    <a:pt x="8509" y="3169920"/>
                  </a:lnTo>
                  <a:lnTo>
                    <a:pt x="10737469" y="3169920"/>
                  </a:lnTo>
                  <a:lnTo>
                    <a:pt x="10737469" y="3178429"/>
                  </a:lnTo>
                  <a:lnTo>
                    <a:pt x="10728960" y="317842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40080" y="5212080"/>
            <a:ext cx="1188720" cy="2377440"/>
            <a:chOff x="0" y="0"/>
            <a:chExt cx="1584960" cy="31699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84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640080" y="5212080"/>
            <a:ext cx="1188720" cy="2377440"/>
            <a:chOff x="0" y="0"/>
            <a:chExt cx="1584960" cy="31699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584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1584960" cy="3236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⏹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011680" y="5394960"/>
            <a:ext cx="6492240" cy="640080"/>
            <a:chOff x="0" y="0"/>
            <a:chExt cx="8656320" cy="8534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656320" cy="853440"/>
            </a:xfrm>
            <a:custGeom>
              <a:avLst/>
              <a:gdLst/>
              <a:ahLst/>
              <a:cxnLst/>
              <a:rect r="r" b="b" t="t" l="l"/>
              <a:pathLst>
                <a:path h="85344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7633" r="0" b="-14763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86563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Early Stopping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2011680" y="6089904"/>
            <a:ext cx="6492240" cy="1316736"/>
            <a:chOff x="0" y="0"/>
            <a:chExt cx="8656320" cy="175564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656320" cy="1755648"/>
            </a:xfrm>
            <a:custGeom>
              <a:avLst/>
              <a:gdLst/>
              <a:ahLst/>
              <a:cxnLst/>
              <a:rect r="r" b="b" t="t" l="l"/>
              <a:pathLst>
                <a:path h="1755648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072" r="0" b="-4607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8656320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Surveillance de val_loss — arrête l'entraînement dès que la validation cesse de s'améliorer.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320527" y="5205727"/>
            <a:ext cx="8059417" cy="2390137"/>
            <a:chOff x="0" y="0"/>
            <a:chExt cx="10745889" cy="318684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8509" y="8509"/>
              <a:ext cx="10728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0F9FF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745978" cy="3186938"/>
            </a:xfrm>
            <a:custGeom>
              <a:avLst/>
              <a:gdLst/>
              <a:ahLst/>
              <a:cxnLst/>
              <a:rect r="r" b="b" t="t" l="l"/>
              <a:pathLst>
                <a:path h="318693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3178429"/>
                  </a:lnTo>
                  <a:cubicBezTo>
                    <a:pt x="10745978" y="3183128"/>
                    <a:pt x="10742168" y="3186938"/>
                    <a:pt x="10737469" y="3186938"/>
                  </a:cubicBezTo>
                  <a:lnTo>
                    <a:pt x="8509" y="3186938"/>
                  </a:lnTo>
                  <a:cubicBezTo>
                    <a:pt x="3810" y="3186938"/>
                    <a:pt x="0" y="3183128"/>
                    <a:pt x="0" y="31784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178429"/>
                  </a:lnTo>
                  <a:lnTo>
                    <a:pt x="8509" y="3178429"/>
                  </a:lnTo>
                  <a:lnTo>
                    <a:pt x="8509" y="3169920"/>
                  </a:lnTo>
                  <a:lnTo>
                    <a:pt x="10737469" y="3169920"/>
                  </a:lnTo>
                  <a:lnTo>
                    <a:pt x="10737469" y="3178429"/>
                  </a:lnTo>
                  <a:lnTo>
                    <a:pt x="10728960" y="317842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326880" y="5212080"/>
            <a:ext cx="1188720" cy="2377440"/>
            <a:chOff x="0" y="0"/>
            <a:chExt cx="1584960" cy="31699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84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326880" y="5212080"/>
            <a:ext cx="1188720" cy="2377440"/>
            <a:chOff x="0" y="0"/>
            <a:chExt cx="1584960" cy="31699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584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66675"/>
              <a:ext cx="1584960" cy="3236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λ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698480" y="5394960"/>
            <a:ext cx="6492240" cy="640080"/>
            <a:chOff x="0" y="0"/>
            <a:chExt cx="8656320" cy="8534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656320" cy="853440"/>
            </a:xfrm>
            <a:custGeom>
              <a:avLst/>
              <a:gdLst/>
              <a:ahLst/>
              <a:cxnLst/>
              <a:rect r="r" b="b" t="t" l="l"/>
              <a:pathLst>
                <a:path h="85344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7633" r="0" b="-14763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86563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Régularisation L2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698480" y="6089904"/>
            <a:ext cx="6492240" cy="1316736"/>
            <a:chOff x="0" y="0"/>
            <a:chExt cx="8656320" cy="175564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656320" cy="1755648"/>
            </a:xfrm>
            <a:custGeom>
              <a:avLst/>
              <a:gdLst/>
              <a:ahLst/>
              <a:cxnLst/>
              <a:rect r="r" b="b" t="t" l="l"/>
              <a:pathLst>
                <a:path h="1755648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072" r="0" b="-4607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8656320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Pénalise les poids élevés via le terme de régularisation — réduit l'overfitting sur les features rares.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40080" y="8138160"/>
            <a:ext cx="17007840" cy="1554480"/>
            <a:chOff x="0" y="0"/>
            <a:chExt cx="22677120" cy="2072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677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14400" y="8138160"/>
            <a:ext cx="16459200" cy="1554480"/>
            <a:chOff x="0" y="0"/>
            <a:chExt cx="21945600" cy="20726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19456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6312" r="0" b="-15631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2194560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Résultat : MAE = 33.39 mois  ·  MSE = 1 742.77  ·  R² = 0.0161  —  Amélioration faible mais réelle vs baseline (−0.56 mois)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176364">
            <a:off x="-4105129" y="653023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79722" y="-4833750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188720"/>
            <a:chOff x="0" y="0"/>
            <a:chExt cx="243840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182880"/>
            <a:ext cx="16824960" cy="822960"/>
            <a:chOff x="0" y="0"/>
            <a:chExt cx="22433280" cy="10972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33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8360" r="0" b="-3483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2433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3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· TRANSFER LEARNING — EfficientNetB0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27383" y="1541783"/>
            <a:ext cx="3957323" cy="4323083"/>
            <a:chOff x="0" y="0"/>
            <a:chExt cx="5276431" cy="57641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16891"/>
              <a:ext cx="5242560" cy="5730240"/>
            </a:xfrm>
            <a:custGeom>
              <a:avLst/>
              <a:gdLst/>
              <a:ahLst/>
              <a:cxnLst/>
              <a:rect r="r" b="b" t="t" l="l"/>
              <a:pathLst>
                <a:path h="57302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5730240"/>
                  </a:lnTo>
                  <a:lnTo>
                    <a:pt x="0" y="5730240"/>
                  </a:lnTo>
                  <a:close/>
                </a:path>
              </a:pathLst>
            </a:custGeom>
            <a:solidFill>
              <a:srgbClr val="FFFFFF">
                <a:alpha val="84314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76342" cy="5764022"/>
            </a:xfrm>
            <a:custGeom>
              <a:avLst/>
              <a:gdLst/>
              <a:ahLst/>
              <a:cxnLst/>
              <a:rect r="r" b="b" t="t" l="l"/>
              <a:pathLst>
                <a:path h="576402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5747131"/>
                  </a:lnTo>
                  <a:cubicBezTo>
                    <a:pt x="5276342" y="5756529"/>
                    <a:pt x="5268722" y="5764022"/>
                    <a:pt x="5259451" y="5764022"/>
                  </a:cubicBezTo>
                  <a:lnTo>
                    <a:pt x="16891" y="5764022"/>
                  </a:lnTo>
                  <a:cubicBezTo>
                    <a:pt x="7493" y="5764022"/>
                    <a:pt x="0" y="5756402"/>
                    <a:pt x="0" y="5747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747131"/>
                  </a:lnTo>
                  <a:lnTo>
                    <a:pt x="16891" y="5747131"/>
                  </a:lnTo>
                  <a:lnTo>
                    <a:pt x="16891" y="5730240"/>
                  </a:lnTo>
                  <a:lnTo>
                    <a:pt x="5259451" y="5730240"/>
                  </a:lnTo>
                  <a:lnTo>
                    <a:pt x="5259451" y="5747131"/>
                  </a:lnTo>
                  <a:lnTo>
                    <a:pt x="5242560" y="574713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920240" y="1682496"/>
            <a:ext cx="1371600" cy="1371600"/>
            <a:chOff x="0" y="0"/>
            <a:chExt cx="1828800" cy="182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920240" y="1682496"/>
            <a:ext cx="1371600" cy="1371600"/>
            <a:chOff x="0" y="0"/>
            <a:chExt cx="1828800" cy="1828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82880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3236976"/>
            <a:ext cx="3566160" cy="822960"/>
            <a:chOff x="0" y="0"/>
            <a:chExt cx="475488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5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7548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b="true" sz="21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Chargement du backbone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4169664"/>
            <a:ext cx="3566160" cy="1609344"/>
            <a:chOff x="0" y="0"/>
            <a:chExt cx="4754880" cy="21457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54880" cy="2145792"/>
            </a:xfrm>
            <a:custGeom>
              <a:avLst/>
              <a:gdLst/>
              <a:ahLst/>
              <a:cxnLst/>
              <a:rect r="r" b="b" t="t" l="l"/>
              <a:pathLst>
                <a:path h="21457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901" t="0" r="-7901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754880" cy="2183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EfficientNetB0 pré-entraîné sur ImageNet — représentations visuelles riches dès le départ.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25063" y="1541783"/>
            <a:ext cx="3957323" cy="4323083"/>
            <a:chOff x="0" y="0"/>
            <a:chExt cx="5276431" cy="57641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5242560" cy="5730240"/>
            </a:xfrm>
            <a:custGeom>
              <a:avLst/>
              <a:gdLst/>
              <a:ahLst/>
              <a:cxnLst/>
              <a:rect r="r" b="b" t="t" l="l"/>
              <a:pathLst>
                <a:path h="57302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5730240"/>
                  </a:lnTo>
                  <a:lnTo>
                    <a:pt x="0" y="5730240"/>
                  </a:lnTo>
                  <a:close/>
                </a:path>
              </a:pathLst>
            </a:custGeom>
            <a:solidFill>
              <a:srgbClr val="FFFFFF">
                <a:alpha val="84314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76342" cy="5764022"/>
            </a:xfrm>
            <a:custGeom>
              <a:avLst/>
              <a:gdLst/>
              <a:ahLst/>
              <a:cxnLst/>
              <a:rect r="r" b="b" t="t" l="l"/>
              <a:pathLst>
                <a:path h="576402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5747131"/>
                  </a:lnTo>
                  <a:cubicBezTo>
                    <a:pt x="5276342" y="5756529"/>
                    <a:pt x="5268722" y="5764022"/>
                    <a:pt x="5259451" y="5764022"/>
                  </a:cubicBezTo>
                  <a:lnTo>
                    <a:pt x="16891" y="5764022"/>
                  </a:lnTo>
                  <a:cubicBezTo>
                    <a:pt x="7493" y="5764022"/>
                    <a:pt x="0" y="5756402"/>
                    <a:pt x="0" y="5747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747131"/>
                  </a:lnTo>
                  <a:lnTo>
                    <a:pt x="16891" y="5747131"/>
                  </a:lnTo>
                  <a:lnTo>
                    <a:pt x="16891" y="5730240"/>
                  </a:lnTo>
                  <a:lnTo>
                    <a:pt x="5259451" y="5730240"/>
                  </a:lnTo>
                  <a:lnTo>
                    <a:pt x="5259451" y="5747131"/>
                  </a:lnTo>
                  <a:lnTo>
                    <a:pt x="5242560" y="574713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217920" y="1682496"/>
            <a:ext cx="1371600" cy="1371600"/>
            <a:chOff x="0" y="0"/>
            <a:chExt cx="1828800" cy="1828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217920" y="1682496"/>
            <a:ext cx="1371600" cy="1371600"/>
            <a:chOff x="0" y="0"/>
            <a:chExt cx="1828800" cy="1828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82880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120640" y="3236976"/>
            <a:ext cx="3566160" cy="822960"/>
            <a:chOff x="0" y="0"/>
            <a:chExt cx="4754880" cy="1097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75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47548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b="true" sz="21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Gel du backbone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20640" y="4169664"/>
            <a:ext cx="3566160" cy="1609344"/>
            <a:chOff x="0" y="0"/>
            <a:chExt cx="4754880" cy="21457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754880" cy="2145792"/>
            </a:xfrm>
            <a:custGeom>
              <a:avLst/>
              <a:gdLst/>
              <a:ahLst/>
              <a:cxnLst/>
              <a:rect r="r" b="b" t="t" l="l"/>
              <a:pathLst>
                <a:path h="21457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901" t="0" r="-7901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4754880" cy="2183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Les poids du backbone sont gelés. Seule la tête de régression est entraînée en premier.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222743" y="1541783"/>
            <a:ext cx="3957323" cy="4323083"/>
            <a:chOff x="0" y="0"/>
            <a:chExt cx="5276431" cy="576411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5242560" cy="5730240"/>
            </a:xfrm>
            <a:custGeom>
              <a:avLst/>
              <a:gdLst/>
              <a:ahLst/>
              <a:cxnLst/>
              <a:rect r="r" b="b" t="t" l="l"/>
              <a:pathLst>
                <a:path h="57302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5730240"/>
                  </a:lnTo>
                  <a:lnTo>
                    <a:pt x="0" y="5730240"/>
                  </a:lnTo>
                  <a:close/>
                </a:path>
              </a:pathLst>
            </a:custGeom>
            <a:solidFill>
              <a:srgbClr val="FFFFFF">
                <a:alpha val="84314"/>
              </a:srgbClr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276342" cy="5764022"/>
            </a:xfrm>
            <a:custGeom>
              <a:avLst/>
              <a:gdLst/>
              <a:ahLst/>
              <a:cxnLst/>
              <a:rect r="r" b="b" t="t" l="l"/>
              <a:pathLst>
                <a:path h="576402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5747131"/>
                  </a:lnTo>
                  <a:cubicBezTo>
                    <a:pt x="5276342" y="5756529"/>
                    <a:pt x="5268722" y="5764022"/>
                    <a:pt x="5259451" y="5764022"/>
                  </a:cubicBezTo>
                  <a:lnTo>
                    <a:pt x="16891" y="5764022"/>
                  </a:lnTo>
                  <a:cubicBezTo>
                    <a:pt x="7493" y="5764022"/>
                    <a:pt x="0" y="5756402"/>
                    <a:pt x="0" y="5747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747131"/>
                  </a:lnTo>
                  <a:lnTo>
                    <a:pt x="16891" y="5747131"/>
                  </a:lnTo>
                  <a:lnTo>
                    <a:pt x="16891" y="5730240"/>
                  </a:lnTo>
                  <a:lnTo>
                    <a:pt x="5259451" y="5730240"/>
                  </a:lnTo>
                  <a:lnTo>
                    <a:pt x="5259451" y="5747131"/>
                  </a:lnTo>
                  <a:lnTo>
                    <a:pt x="5242560" y="574713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515600" y="1682496"/>
            <a:ext cx="1371600" cy="1371600"/>
            <a:chOff x="0" y="0"/>
            <a:chExt cx="1828800" cy="1828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515600" y="1682496"/>
            <a:ext cx="1371600" cy="1371600"/>
            <a:chOff x="0" y="0"/>
            <a:chExt cx="1828800" cy="1828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182880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418320" y="3236976"/>
            <a:ext cx="3566160" cy="822960"/>
            <a:chOff x="0" y="0"/>
            <a:chExt cx="4754880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75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47548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b="true" sz="21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Entraînement de la tête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418320" y="4169664"/>
            <a:ext cx="3566160" cy="1609344"/>
            <a:chOff x="0" y="0"/>
            <a:chExt cx="4754880" cy="21457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754880" cy="2145792"/>
            </a:xfrm>
            <a:custGeom>
              <a:avLst/>
              <a:gdLst/>
              <a:ahLst/>
              <a:cxnLst/>
              <a:rect r="r" b="b" t="t" l="l"/>
              <a:pathLst>
                <a:path h="21457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901" t="0" r="-7901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754880" cy="2183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Couche Dense de régression ajoutée — le modèle apprend à mapper les features vers l'âge en mois.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520423" y="1541783"/>
            <a:ext cx="3957323" cy="4323083"/>
            <a:chOff x="0" y="0"/>
            <a:chExt cx="5276431" cy="576411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6891" y="16891"/>
              <a:ext cx="5242560" cy="5730240"/>
            </a:xfrm>
            <a:custGeom>
              <a:avLst/>
              <a:gdLst/>
              <a:ahLst/>
              <a:cxnLst/>
              <a:rect r="r" b="b" t="t" l="l"/>
              <a:pathLst>
                <a:path h="57302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5730240"/>
                  </a:lnTo>
                  <a:lnTo>
                    <a:pt x="0" y="5730240"/>
                  </a:lnTo>
                  <a:close/>
                </a:path>
              </a:pathLst>
            </a:custGeom>
            <a:solidFill>
              <a:srgbClr val="FFFFFF">
                <a:alpha val="84314"/>
              </a:srgbClr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276342" cy="5764022"/>
            </a:xfrm>
            <a:custGeom>
              <a:avLst/>
              <a:gdLst/>
              <a:ahLst/>
              <a:cxnLst/>
              <a:rect r="r" b="b" t="t" l="l"/>
              <a:pathLst>
                <a:path h="576402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5747131"/>
                  </a:lnTo>
                  <a:cubicBezTo>
                    <a:pt x="5276342" y="5756529"/>
                    <a:pt x="5268722" y="5764022"/>
                    <a:pt x="5259451" y="5764022"/>
                  </a:cubicBezTo>
                  <a:lnTo>
                    <a:pt x="16891" y="5764022"/>
                  </a:lnTo>
                  <a:cubicBezTo>
                    <a:pt x="7493" y="5764022"/>
                    <a:pt x="0" y="5756402"/>
                    <a:pt x="0" y="5747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747131"/>
                  </a:lnTo>
                  <a:lnTo>
                    <a:pt x="16891" y="5747131"/>
                  </a:lnTo>
                  <a:lnTo>
                    <a:pt x="16891" y="5730240"/>
                  </a:lnTo>
                  <a:lnTo>
                    <a:pt x="5259451" y="5730240"/>
                  </a:lnTo>
                  <a:lnTo>
                    <a:pt x="5259451" y="5747131"/>
                  </a:lnTo>
                  <a:lnTo>
                    <a:pt x="5242560" y="574713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813280" y="1682496"/>
            <a:ext cx="1371600" cy="1371600"/>
            <a:chOff x="0" y="0"/>
            <a:chExt cx="1828800" cy="1828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4813280" y="1682496"/>
            <a:ext cx="1371600" cy="1371600"/>
            <a:chOff x="0" y="0"/>
            <a:chExt cx="1828800" cy="1828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182880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716000" y="3236976"/>
            <a:ext cx="3566160" cy="822960"/>
            <a:chOff x="0" y="0"/>
            <a:chExt cx="4754880" cy="10972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75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47548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b="true" sz="21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Fine-tuning léger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716000" y="4169664"/>
            <a:ext cx="3566160" cy="1609344"/>
            <a:chOff x="0" y="0"/>
            <a:chExt cx="4754880" cy="21457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754880" cy="2145792"/>
            </a:xfrm>
            <a:custGeom>
              <a:avLst/>
              <a:gdLst/>
              <a:ahLst/>
              <a:cxnLst/>
              <a:rect r="r" b="b" t="t" l="l"/>
              <a:pathLst>
                <a:path h="21457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901" t="0" r="-7901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754880" cy="2183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Dégel des dernières couches du backbone avec un très faible learning rate pour affiner les représentations.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4546597" y="3723637"/>
            <a:ext cx="416557" cy="50797"/>
            <a:chOff x="0" y="0"/>
            <a:chExt cx="555409" cy="6772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33909" y="0"/>
              <a:ext cx="487680" cy="67691"/>
            </a:xfrm>
            <a:custGeom>
              <a:avLst/>
              <a:gdLst/>
              <a:ahLst/>
              <a:cxnLst/>
              <a:rect r="r" b="b" t="t" l="l"/>
              <a:pathLst>
                <a:path h="67691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8844277" y="3723637"/>
            <a:ext cx="416557" cy="50797"/>
            <a:chOff x="0" y="0"/>
            <a:chExt cx="555409" cy="6772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33909" y="0"/>
              <a:ext cx="487680" cy="67691"/>
            </a:xfrm>
            <a:custGeom>
              <a:avLst/>
              <a:gdLst/>
              <a:ahLst/>
              <a:cxnLst/>
              <a:rect r="r" b="b" t="t" l="l"/>
              <a:pathLst>
                <a:path h="67691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3141957" y="3723637"/>
            <a:ext cx="416557" cy="50797"/>
            <a:chOff x="0" y="0"/>
            <a:chExt cx="555409" cy="6772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33909" y="0"/>
              <a:ext cx="487680" cy="67691"/>
            </a:xfrm>
            <a:custGeom>
              <a:avLst/>
              <a:gdLst/>
              <a:ahLst/>
              <a:cxnLst/>
              <a:rect r="r" b="b" t="t" l="l"/>
              <a:pathLst>
                <a:path h="67691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40080" y="6217920"/>
            <a:ext cx="8229600" cy="3383280"/>
            <a:chOff x="0" y="0"/>
            <a:chExt cx="10972800" cy="45110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9728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822960" y="6400800"/>
            <a:ext cx="7863840" cy="768096"/>
            <a:chOff x="0" y="0"/>
            <a:chExt cx="10485120" cy="102412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485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9489" r="0" b="-149489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104851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🏆 Meilleur Modèle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05840" y="7351776"/>
            <a:ext cx="1645920" cy="548640"/>
            <a:chOff x="0" y="0"/>
            <a:chExt cx="2194560" cy="7315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2194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B0EE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MAE  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2743200" y="7351776"/>
            <a:ext cx="3291840" cy="548640"/>
            <a:chOff x="0" y="0"/>
            <a:chExt cx="4389120" cy="7315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4389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14.37 mois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05840" y="8028432"/>
            <a:ext cx="1645920" cy="548640"/>
            <a:chOff x="0" y="0"/>
            <a:chExt cx="2194560" cy="73152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2194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B0EE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MSE  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2743200" y="8028432"/>
            <a:ext cx="3291840" cy="548640"/>
            <a:chOff x="0" y="0"/>
            <a:chExt cx="4389120" cy="7315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4389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333.74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005840" y="8705088"/>
            <a:ext cx="1645920" cy="548640"/>
            <a:chOff x="0" y="0"/>
            <a:chExt cx="2194560" cy="7315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2194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B0EE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R²  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2743200" y="8705088"/>
            <a:ext cx="3291840" cy="548640"/>
            <a:chOff x="0" y="0"/>
            <a:chExt cx="4389120" cy="73152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47625"/>
              <a:ext cx="4389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0.8116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9405623" y="6205223"/>
            <a:ext cx="8255003" cy="3408683"/>
            <a:chOff x="0" y="0"/>
            <a:chExt cx="11006671" cy="4544911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6891" y="16891"/>
              <a:ext cx="109728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>
                <a:alpha val="84314"/>
              </a:srgbClr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1006582" cy="4544822"/>
            </a:xfrm>
            <a:custGeom>
              <a:avLst/>
              <a:gdLst/>
              <a:ahLst/>
              <a:cxnLst/>
              <a:rect r="r" b="b" t="t" l="l"/>
              <a:pathLst>
                <a:path h="454482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4527931"/>
                  </a:lnTo>
                  <a:cubicBezTo>
                    <a:pt x="11006582" y="4537329"/>
                    <a:pt x="10998962" y="4544822"/>
                    <a:pt x="1098969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0989691" y="4511040"/>
                  </a:lnTo>
                  <a:lnTo>
                    <a:pt x="10989691" y="4527931"/>
                  </a:lnTo>
                  <a:lnTo>
                    <a:pt x="10972800" y="452793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>
                <a:alpha val="8627"/>
              </a:srgbClr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9692640" y="6400800"/>
            <a:ext cx="7680960" cy="768096"/>
            <a:chOff x="0" y="0"/>
            <a:chExt cx="10241280" cy="102412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241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10241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Pourquoi ça marche ?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692640" y="7351776"/>
            <a:ext cx="7680960" cy="603504"/>
            <a:chOff x="0" y="0"/>
            <a:chExt cx="10241280" cy="80467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0241280" cy="804672"/>
            </a:xfrm>
            <a:custGeom>
              <a:avLst/>
              <a:gdLst/>
              <a:ahLst/>
              <a:cxnLst/>
              <a:rect r="r" b="b" t="t" l="l"/>
              <a:pathLst>
                <a:path h="80467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7991" r="0" b="-197991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102412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Les features ImageNet sont transférables aux radiographies.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9692640" y="8046720"/>
            <a:ext cx="7680960" cy="603504"/>
            <a:chOff x="0" y="0"/>
            <a:chExt cx="10241280" cy="80467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241280" cy="804672"/>
            </a:xfrm>
            <a:custGeom>
              <a:avLst/>
              <a:gdLst/>
              <a:ahLst/>
              <a:cxnLst/>
              <a:rect r="r" b="b" t="t" l="l"/>
              <a:pathLst>
                <a:path h="80467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7991" r="0" b="-197991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102412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Les textures et formes apprises restent pertinentes.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692640" y="8741664"/>
            <a:ext cx="7680960" cy="603504"/>
            <a:chOff x="0" y="0"/>
            <a:chExt cx="10241280" cy="80467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0241280" cy="804672"/>
            </a:xfrm>
            <a:custGeom>
              <a:avLst/>
              <a:gdLst/>
              <a:ahLst/>
              <a:cxnLst/>
              <a:rect r="r" b="b" t="t" l="l"/>
              <a:pathLst>
                <a:path h="80467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7991" r="0" b="-197991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102412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Dataset médical de taille moyenne → généralisation difficile from scratch.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79578" y="734131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14165" y="-10611118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2" y="0"/>
                </a:lnTo>
                <a:lnTo>
                  <a:pt x="15841852" y="16255633"/>
                </a:lnTo>
                <a:lnTo>
                  <a:pt x="0" y="162556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188720"/>
            <a:chOff x="0" y="0"/>
            <a:chExt cx="243840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182880"/>
            <a:ext cx="16824960" cy="822960"/>
            <a:chOff x="0" y="0"/>
            <a:chExt cx="22433280" cy="10972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33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48360" r="0" b="-3483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2433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3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· COMPARAISON DES MODÈLES</a:t>
              </a:r>
            </a:p>
          </p:txBody>
        </p:sp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765982" y="197412"/>
            <a:ext cx="13130141" cy="10894207"/>
          </a:xfrm>
          <a:prstGeom prst="rect">
            <a:avLst/>
          </a:prstGeom>
        </p:spPr>
      </p:pic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1521440" y="1554480"/>
          <a:ext cx="6070600" cy="3962400"/>
        </p:xfrm>
        <a:graphic>
          <a:graphicData uri="http://schemas.openxmlformats.org/drawingml/2006/table">
            <a:tbl>
              <a:tblPr/>
              <a:tblGrid>
                <a:gridCol w="2787723"/>
                <a:gridCol w="1005165"/>
                <a:gridCol w="1272548"/>
                <a:gridCol w="1005165"/>
              </a:tblGrid>
              <a:tr h="990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Modèle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MSE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R²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990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CNN Baseline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33.95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1 781.33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—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0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CNN Régularisé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33.39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1 742.77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0.0161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0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665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Transfer Learning ⭐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665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14.37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665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333.74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665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0.8116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5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11521440" y="5943600"/>
            <a:ext cx="6126480" cy="3840480"/>
            <a:chOff x="0" y="0"/>
            <a:chExt cx="8168640" cy="5120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686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795760" y="6071616"/>
            <a:ext cx="5577840" cy="822960"/>
            <a:chOff x="0" y="0"/>
            <a:chExt cx="743712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37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2065" r="0" b="-8206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743712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Gain Transfer Learning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795760" y="6986016"/>
            <a:ext cx="5577840" cy="1280160"/>
            <a:chOff x="0" y="0"/>
            <a:chExt cx="7437120" cy="17068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371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4899" r="0" b="-3489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33350"/>
              <a:ext cx="7437120" cy="1840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59"/>
                </a:lnSpc>
              </a:pPr>
              <a:r>
                <a:rPr lang="en-US" sz="6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−57.7%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795760" y="8339328"/>
            <a:ext cx="5577840" cy="1133856"/>
            <a:chOff x="0" y="0"/>
            <a:chExt cx="7437120" cy="151180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4371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5853" r="0" b="-4585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743712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B0EE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 réduction de la MAE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B0EE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vs baseline CNN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176364">
            <a:off x="-4105129" y="653023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79722" y="-4833750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188720"/>
            <a:chOff x="0" y="0"/>
            <a:chExt cx="243840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182880"/>
            <a:ext cx="16824960" cy="822960"/>
            <a:chOff x="0" y="0"/>
            <a:chExt cx="22433280" cy="10972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33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8360" r="0" b="-3483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2433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3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 · MÉTRIQUES &amp; INTERPRÉTATION GRAD-CAM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31520" y="1499616"/>
            <a:ext cx="8046720" cy="768096"/>
            <a:chOff x="0" y="0"/>
            <a:chExt cx="10728960" cy="10241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289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4128" r="0" b="-15412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072896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Artefacts produits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33727" y="2517391"/>
            <a:ext cx="7693657" cy="1219705"/>
            <a:chOff x="0" y="0"/>
            <a:chExt cx="10258209" cy="16262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8509" y="8509"/>
              <a:ext cx="1024128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F0F9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58299" cy="1626362"/>
            </a:xfrm>
            <a:custGeom>
              <a:avLst/>
              <a:gdLst/>
              <a:ahLst/>
              <a:cxnLst/>
              <a:rect r="r" b="b" t="t" l="l"/>
              <a:pathLst>
                <a:path h="1626362" w="10258299">
                  <a:moveTo>
                    <a:pt x="8509" y="0"/>
                  </a:moveTo>
                  <a:lnTo>
                    <a:pt x="10249789" y="0"/>
                  </a:lnTo>
                  <a:cubicBezTo>
                    <a:pt x="10254488" y="0"/>
                    <a:pt x="10258299" y="3810"/>
                    <a:pt x="10258299" y="8509"/>
                  </a:cubicBezTo>
                  <a:lnTo>
                    <a:pt x="10258299" y="1617853"/>
                  </a:lnTo>
                  <a:cubicBezTo>
                    <a:pt x="10258299" y="1622552"/>
                    <a:pt x="10254488" y="1626362"/>
                    <a:pt x="10249789" y="1626362"/>
                  </a:cubicBezTo>
                  <a:lnTo>
                    <a:pt x="8509" y="1626362"/>
                  </a:lnTo>
                  <a:cubicBezTo>
                    <a:pt x="3810" y="1626362"/>
                    <a:pt x="0" y="1622552"/>
                    <a:pt x="0" y="161785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617853"/>
                  </a:lnTo>
                  <a:lnTo>
                    <a:pt x="8509" y="1617853"/>
                  </a:lnTo>
                  <a:lnTo>
                    <a:pt x="8509" y="1609344"/>
                  </a:lnTo>
                  <a:lnTo>
                    <a:pt x="10249789" y="1609344"/>
                  </a:lnTo>
                  <a:lnTo>
                    <a:pt x="10249789" y="1617853"/>
                  </a:lnTo>
                  <a:lnTo>
                    <a:pt x="10241280" y="1617853"/>
                  </a:lnTo>
                  <a:lnTo>
                    <a:pt x="10241280" y="8509"/>
                  </a:lnTo>
                  <a:lnTo>
                    <a:pt x="10249789" y="8509"/>
                  </a:lnTo>
                  <a:lnTo>
                    <a:pt x="10249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31520" y="2523744"/>
            <a:ext cx="1005840" cy="1207008"/>
            <a:chOff x="0" y="0"/>
            <a:chExt cx="1341120" cy="16093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11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03964" t="0" r="-10396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341120" cy="1666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📉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828800" y="2633472"/>
            <a:ext cx="6309360" cy="475488"/>
            <a:chOff x="0" y="0"/>
            <a:chExt cx="8412480" cy="6339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412480" cy="633984"/>
            </a:xfrm>
            <a:custGeom>
              <a:avLst/>
              <a:gdLst/>
              <a:ahLst/>
              <a:cxnLst/>
              <a:rect r="r" b="b" t="t" l="l"/>
              <a:pathLst>
                <a:path h="633984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8551" r="0" b="-20855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841248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828800" y="3127248"/>
            <a:ext cx="6309360" cy="512064"/>
            <a:chOff x="0" y="0"/>
            <a:chExt cx="8412480" cy="6827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412480" cy="682752"/>
            </a:xfrm>
            <a:custGeom>
              <a:avLst/>
              <a:gdLst/>
              <a:ahLst/>
              <a:cxnLst/>
              <a:rect r="r" b="b" t="t" l="l"/>
              <a:pathLst>
                <a:path h="68275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0083" r="0" b="-19008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412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Erreur absolue moyenne en mois — principal indicateur de précision clinique.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33727" y="3943855"/>
            <a:ext cx="7693657" cy="1219705"/>
            <a:chOff x="0" y="0"/>
            <a:chExt cx="10258209" cy="162627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8509" y="8509"/>
              <a:ext cx="1024128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F0F9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258299" cy="1626362"/>
            </a:xfrm>
            <a:custGeom>
              <a:avLst/>
              <a:gdLst/>
              <a:ahLst/>
              <a:cxnLst/>
              <a:rect r="r" b="b" t="t" l="l"/>
              <a:pathLst>
                <a:path h="1626362" w="10258299">
                  <a:moveTo>
                    <a:pt x="8509" y="0"/>
                  </a:moveTo>
                  <a:lnTo>
                    <a:pt x="10249789" y="0"/>
                  </a:lnTo>
                  <a:cubicBezTo>
                    <a:pt x="10254488" y="0"/>
                    <a:pt x="10258299" y="3810"/>
                    <a:pt x="10258299" y="8509"/>
                  </a:cubicBezTo>
                  <a:lnTo>
                    <a:pt x="10258299" y="1617853"/>
                  </a:lnTo>
                  <a:cubicBezTo>
                    <a:pt x="10258299" y="1622552"/>
                    <a:pt x="10254488" y="1626362"/>
                    <a:pt x="10249789" y="1626362"/>
                  </a:cubicBezTo>
                  <a:lnTo>
                    <a:pt x="8509" y="1626362"/>
                  </a:lnTo>
                  <a:cubicBezTo>
                    <a:pt x="3810" y="1626362"/>
                    <a:pt x="0" y="1622552"/>
                    <a:pt x="0" y="161785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617853"/>
                  </a:lnTo>
                  <a:lnTo>
                    <a:pt x="8509" y="1617853"/>
                  </a:lnTo>
                  <a:lnTo>
                    <a:pt x="8509" y="1609344"/>
                  </a:lnTo>
                  <a:lnTo>
                    <a:pt x="10249789" y="1609344"/>
                  </a:lnTo>
                  <a:lnTo>
                    <a:pt x="10249789" y="1617853"/>
                  </a:lnTo>
                  <a:lnTo>
                    <a:pt x="10241280" y="1617853"/>
                  </a:lnTo>
                  <a:lnTo>
                    <a:pt x="10241280" y="8509"/>
                  </a:lnTo>
                  <a:lnTo>
                    <a:pt x="10249789" y="8509"/>
                  </a:lnTo>
                  <a:lnTo>
                    <a:pt x="10249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31520" y="3950208"/>
            <a:ext cx="1005840" cy="1207008"/>
            <a:chOff x="0" y="0"/>
            <a:chExt cx="1341120" cy="160934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411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03964" t="0" r="-103964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341120" cy="1666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📊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828800" y="4059936"/>
            <a:ext cx="6309360" cy="475488"/>
            <a:chOff x="0" y="0"/>
            <a:chExt cx="8412480" cy="6339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412480" cy="633984"/>
            </a:xfrm>
            <a:custGeom>
              <a:avLst/>
              <a:gdLst/>
              <a:ahLst/>
              <a:cxnLst/>
              <a:rect r="r" b="b" t="t" l="l"/>
              <a:pathLst>
                <a:path h="633984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8551" r="0" b="-20855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841248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MSE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828800" y="4553712"/>
            <a:ext cx="6309360" cy="512064"/>
            <a:chOff x="0" y="0"/>
            <a:chExt cx="8412480" cy="68275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412480" cy="682752"/>
            </a:xfrm>
            <a:custGeom>
              <a:avLst/>
              <a:gdLst/>
              <a:ahLst/>
              <a:cxnLst/>
              <a:rect r="r" b="b" t="t" l="l"/>
              <a:pathLst>
                <a:path h="68275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0083" r="0" b="-19008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8412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Erreur quadratique — pénalise davantage les grandes erreurs de prédiction.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33727" y="5370319"/>
            <a:ext cx="7693657" cy="1219705"/>
            <a:chOff x="0" y="0"/>
            <a:chExt cx="10258209" cy="162627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8509" y="8509"/>
              <a:ext cx="1024128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F0F9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258299" cy="1626362"/>
            </a:xfrm>
            <a:custGeom>
              <a:avLst/>
              <a:gdLst/>
              <a:ahLst/>
              <a:cxnLst/>
              <a:rect r="r" b="b" t="t" l="l"/>
              <a:pathLst>
                <a:path h="1626362" w="10258299">
                  <a:moveTo>
                    <a:pt x="8509" y="0"/>
                  </a:moveTo>
                  <a:lnTo>
                    <a:pt x="10249789" y="0"/>
                  </a:lnTo>
                  <a:cubicBezTo>
                    <a:pt x="10254488" y="0"/>
                    <a:pt x="10258299" y="3810"/>
                    <a:pt x="10258299" y="8509"/>
                  </a:cubicBezTo>
                  <a:lnTo>
                    <a:pt x="10258299" y="1617853"/>
                  </a:lnTo>
                  <a:cubicBezTo>
                    <a:pt x="10258299" y="1622552"/>
                    <a:pt x="10254488" y="1626362"/>
                    <a:pt x="10249789" y="1626362"/>
                  </a:cubicBezTo>
                  <a:lnTo>
                    <a:pt x="8509" y="1626362"/>
                  </a:lnTo>
                  <a:cubicBezTo>
                    <a:pt x="3810" y="1626362"/>
                    <a:pt x="0" y="1622552"/>
                    <a:pt x="0" y="161785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617853"/>
                  </a:lnTo>
                  <a:lnTo>
                    <a:pt x="8509" y="1617853"/>
                  </a:lnTo>
                  <a:lnTo>
                    <a:pt x="8509" y="1609344"/>
                  </a:lnTo>
                  <a:lnTo>
                    <a:pt x="10249789" y="1609344"/>
                  </a:lnTo>
                  <a:lnTo>
                    <a:pt x="10249789" y="1617853"/>
                  </a:lnTo>
                  <a:lnTo>
                    <a:pt x="10241280" y="1617853"/>
                  </a:lnTo>
                  <a:lnTo>
                    <a:pt x="10241280" y="8509"/>
                  </a:lnTo>
                  <a:lnTo>
                    <a:pt x="10249789" y="8509"/>
                  </a:lnTo>
                  <a:lnTo>
                    <a:pt x="10249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31520" y="5376672"/>
            <a:ext cx="1005840" cy="1207008"/>
            <a:chOff x="0" y="0"/>
            <a:chExt cx="1341120" cy="16093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411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03964" t="0" r="-103964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1341120" cy="1666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📈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828800" y="5486400"/>
            <a:ext cx="6309360" cy="475488"/>
            <a:chOff x="0" y="0"/>
            <a:chExt cx="8412480" cy="63398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412480" cy="633984"/>
            </a:xfrm>
            <a:custGeom>
              <a:avLst/>
              <a:gdLst/>
              <a:ahLst/>
              <a:cxnLst/>
              <a:rect r="r" b="b" t="t" l="l"/>
              <a:pathLst>
                <a:path h="633984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8551" r="0" b="-20855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841248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Courbes de loss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828800" y="5980176"/>
            <a:ext cx="6309360" cy="512064"/>
            <a:chOff x="0" y="0"/>
            <a:chExt cx="8412480" cy="68275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412480" cy="682752"/>
            </a:xfrm>
            <a:custGeom>
              <a:avLst/>
              <a:gdLst/>
              <a:ahLst/>
              <a:cxnLst/>
              <a:rect r="r" b="b" t="t" l="l"/>
              <a:pathLst>
                <a:path h="68275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0083" r="0" b="-19008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8412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Évolution train/validation — détecte l'overfitting et la convergence.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33727" y="6796783"/>
            <a:ext cx="7693657" cy="1219705"/>
            <a:chOff x="0" y="0"/>
            <a:chExt cx="10258209" cy="162627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8509" y="8509"/>
              <a:ext cx="1024128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F0F9FF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258299" cy="1626362"/>
            </a:xfrm>
            <a:custGeom>
              <a:avLst/>
              <a:gdLst/>
              <a:ahLst/>
              <a:cxnLst/>
              <a:rect r="r" b="b" t="t" l="l"/>
              <a:pathLst>
                <a:path h="1626362" w="10258299">
                  <a:moveTo>
                    <a:pt x="8509" y="0"/>
                  </a:moveTo>
                  <a:lnTo>
                    <a:pt x="10249789" y="0"/>
                  </a:lnTo>
                  <a:cubicBezTo>
                    <a:pt x="10254488" y="0"/>
                    <a:pt x="10258299" y="3810"/>
                    <a:pt x="10258299" y="8509"/>
                  </a:cubicBezTo>
                  <a:lnTo>
                    <a:pt x="10258299" y="1617853"/>
                  </a:lnTo>
                  <a:cubicBezTo>
                    <a:pt x="10258299" y="1622552"/>
                    <a:pt x="10254488" y="1626362"/>
                    <a:pt x="10249789" y="1626362"/>
                  </a:cubicBezTo>
                  <a:lnTo>
                    <a:pt x="8509" y="1626362"/>
                  </a:lnTo>
                  <a:cubicBezTo>
                    <a:pt x="3810" y="1626362"/>
                    <a:pt x="0" y="1622552"/>
                    <a:pt x="0" y="161785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617853"/>
                  </a:lnTo>
                  <a:lnTo>
                    <a:pt x="8509" y="1617853"/>
                  </a:lnTo>
                  <a:lnTo>
                    <a:pt x="8509" y="1609344"/>
                  </a:lnTo>
                  <a:lnTo>
                    <a:pt x="10249789" y="1609344"/>
                  </a:lnTo>
                  <a:lnTo>
                    <a:pt x="10249789" y="1617853"/>
                  </a:lnTo>
                  <a:lnTo>
                    <a:pt x="10241280" y="1617853"/>
                  </a:lnTo>
                  <a:lnTo>
                    <a:pt x="10241280" y="8509"/>
                  </a:lnTo>
                  <a:lnTo>
                    <a:pt x="10249789" y="8509"/>
                  </a:lnTo>
                  <a:lnTo>
                    <a:pt x="10249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731520" y="6803136"/>
            <a:ext cx="1005840" cy="1207008"/>
            <a:chOff x="0" y="0"/>
            <a:chExt cx="1341120" cy="160934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411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03964" t="0" r="-103964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1341120" cy="1666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828800" y="6912864"/>
            <a:ext cx="6309360" cy="475488"/>
            <a:chOff x="0" y="0"/>
            <a:chExt cx="8412480" cy="63398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412480" cy="633984"/>
            </a:xfrm>
            <a:custGeom>
              <a:avLst/>
              <a:gdLst/>
              <a:ahLst/>
              <a:cxnLst/>
              <a:rect r="r" b="b" t="t" l="l"/>
              <a:pathLst>
                <a:path h="633984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8551" r="0" b="-20855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841248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Learning Rate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828800" y="7406640"/>
            <a:ext cx="6309360" cy="512064"/>
            <a:chOff x="0" y="0"/>
            <a:chExt cx="8412480" cy="68275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412480" cy="682752"/>
            </a:xfrm>
            <a:custGeom>
              <a:avLst/>
              <a:gdLst/>
              <a:ahLst/>
              <a:cxnLst/>
              <a:rect r="r" b="b" t="t" l="l"/>
              <a:pathLst>
                <a:path h="68275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0083" r="0" b="-19008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8412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Suivi du LR pendant l'entraînement (pipeline final).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33727" y="8223247"/>
            <a:ext cx="7693657" cy="1219705"/>
            <a:chOff x="0" y="0"/>
            <a:chExt cx="10258209" cy="162627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8509" y="8509"/>
              <a:ext cx="1024128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F0F9FF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258299" cy="1626362"/>
            </a:xfrm>
            <a:custGeom>
              <a:avLst/>
              <a:gdLst/>
              <a:ahLst/>
              <a:cxnLst/>
              <a:rect r="r" b="b" t="t" l="l"/>
              <a:pathLst>
                <a:path h="1626362" w="10258299">
                  <a:moveTo>
                    <a:pt x="8509" y="0"/>
                  </a:moveTo>
                  <a:lnTo>
                    <a:pt x="10249789" y="0"/>
                  </a:lnTo>
                  <a:cubicBezTo>
                    <a:pt x="10254488" y="0"/>
                    <a:pt x="10258299" y="3810"/>
                    <a:pt x="10258299" y="8509"/>
                  </a:cubicBezTo>
                  <a:lnTo>
                    <a:pt x="10258299" y="1617853"/>
                  </a:lnTo>
                  <a:cubicBezTo>
                    <a:pt x="10258299" y="1622552"/>
                    <a:pt x="10254488" y="1626362"/>
                    <a:pt x="10249789" y="1626362"/>
                  </a:cubicBezTo>
                  <a:lnTo>
                    <a:pt x="8509" y="1626362"/>
                  </a:lnTo>
                  <a:cubicBezTo>
                    <a:pt x="3810" y="1626362"/>
                    <a:pt x="0" y="1622552"/>
                    <a:pt x="0" y="161785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617853"/>
                  </a:lnTo>
                  <a:lnTo>
                    <a:pt x="8509" y="1617853"/>
                  </a:lnTo>
                  <a:lnTo>
                    <a:pt x="8509" y="1609344"/>
                  </a:lnTo>
                  <a:lnTo>
                    <a:pt x="10249789" y="1609344"/>
                  </a:lnTo>
                  <a:lnTo>
                    <a:pt x="10249789" y="1617853"/>
                  </a:lnTo>
                  <a:lnTo>
                    <a:pt x="10241280" y="1617853"/>
                  </a:lnTo>
                  <a:lnTo>
                    <a:pt x="10241280" y="8509"/>
                  </a:lnTo>
                  <a:lnTo>
                    <a:pt x="10249789" y="8509"/>
                  </a:lnTo>
                  <a:lnTo>
                    <a:pt x="10249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731520" y="8229600"/>
            <a:ext cx="1005840" cy="1207008"/>
            <a:chOff x="0" y="0"/>
            <a:chExt cx="1341120" cy="160934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3411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03964" t="0" r="-103964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57150"/>
              <a:ext cx="1341120" cy="1666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🎯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828800" y="8339328"/>
            <a:ext cx="6309360" cy="475488"/>
            <a:chOff x="0" y="0"/>
            <a:chExt cx="8412480" cy="63398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412480" cy="633984"/>
            </a:xfrm>
            <a:custGeom>
              <a:avLst/>
              <a:gdLst/>
              <a:ahLst/>
              <a:cxnLst/>
              <a:rect r="r" b="b" t="t" l="l"/>
              <a:pathLst>
                <a:path h="633984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8551" r="0" b="-20855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841248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Scatter Plot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828800" y="8833104"/>
            <a:ext cx="6309360" cy="512064"/>
            <a:chOff x="0" y="0"/>
            <a:chExt cx="8412480" cy="68275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412480" cy="682752"/>
            </a:xfrm>
            <a:custGeom>
              <a:avLst/>
              <a:gdLst/>
              <a:ahLst/>
              <a:cxnLst/>
              <a:rect r="r" b="b" t="t" l="l"/>
              <a:pathLst>
                <a:path h="68275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0083" r="0" b="-190083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8412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Âge réel vs âge prédit — visualise la qualité des prédictions.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131303" y="1486919"/>
            <a:ext cx="8529323" cy="8255003"/>
            <a:chOff x="0" y="0"/>
            <a:chExt cx="11372431" cy="1100667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16891" y="16891"/>
              <a:ext cx="1133856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0972800"/>
                  </a:lnTo>
                  <a:lnTo>
                    <a:pt x="0" y="10972800"/>
                  </a:lnTo>
                  <a:close/>
                </a:path>
              </a:pathLst>
            </a:custGeom>
            <a:solidFill>
              <a:srgbClr val="FFF8F0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1372342" cy="11006582"/>
            </a:xfrm>
            <a:custGeom>
              <a:avLst/>
              <a:gdLst/>
              <a:ahLst/>
              <a:cxnLst/>
              <a:rect r="r" b="b" t="t" l="l"/>
              <a:pathLst>
                <a:path h="11006582" w="11372342">
                  <a:moveTo>
                    <a:pt x="16891" y="0"/>
                  </a:moveTo>
                  <a:lnTo>
                    <a:pt x="11355451" y="0"/>
                  </a:lnTo>
                  <a:cubicBezTo>
                    <a:pt x="11364849" y="0"/>
                    <a:pt x="11372342" y="7620"/>
                    <a:pt x="11372342" y="16891"/>
                  </a:cubicBezTo>
                  <a:lnTo>
                    <a:pt x="11372342" y="10989691"/>
                  </a:lnTo>
                  <a:cubicBezTo>
                    <a:pt x="11372342" y="10999089"/>
                    <a:pt x="11364722" y="11006582"/>
                    <a:pt x="11355451" y="11006582"/>
                  </a:cubicBezTo>
                  <a:lnTo>
                    <a:pt x="16891" y="11006582"/>
                  </a:lnTo>
                  <a:cubicBezTo>
                    <a:pt x="7493" y="11006582"/>
                    <a:pt x="0" y="10998962"/>
                    <a:pt x="0" y="10989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989691"/>
                  </a:lnTo>
                  <a:lnTo>
                    <a:pt x="16891" y="10989691"/>
                  </a:lnTo>
                  <a:lnTo>
                    <a:pt x="16891" y="10972800"/>
                  </a:lnTo>
                  <a:lnTo>
                    <a:pt x="11355451" y="10972800"/>
                  </a:lnTo>
                  <a:lnTo>
                    <a:pt x="11355451" y="10989691"/>
                  </a:lnTo>
                  <a:lnTo>
                    <a:pt x="11338560" y="10989691"/>
                  </a:lnTo>
                  <a:lnTo>
                    <a:pt x="11338560" y="16891"/>
                  </a:lnTo>
                  <a:lnTo>
                    <a:pt x="11355451" y="16891"/>
                  </a:lnTo>
                  <a:lnTo>
                    <a:pt x="11355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144000" y="1499616"/>
            <a:ext cx="8503920" cy="877824"/>
            <a:chOff x="0" y="0"/>
            <a:chExt cx="11338560" cy="117043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3385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235440" y="1499616"/>
            <a:ext cx="8321040" cy="877824"/>
            <a:chOff x="0" y="0"/>
            <a:chExt cx="11094720" cy="117043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10947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4701" r="0" b="-13470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1109472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🔍  Grad-CAM — Interprétabilité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418320" y="2596896"/>
            <a:ext cx="7955280" cy="640080"/>
            <a:chOff x="0" y="0"/>
            <a:chExt cx="10607040" cy="8534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607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2171" r="0" b="-19217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106070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Gradient-weighted Class Activation Mapping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418320" y="3328416"/>
            <a:ext cx="7955280" cy="1371600"/>
            <a:chOff x="0" y="0"/>
            <a:chExt cx="10607040" cy="18288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6070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1060704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Grad-CAM localise les zones de la radiographie que le modèle utilise pour prédire l'âge osseux — zones d'ossification, métaphyses, épiphyses.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509760" y="4974336"/>
            <a:ext cx="3291840" cy="2743200"/>
            <a:chOff x="0" y="0"/>
            <a:chExt cx="4389120" cy="36576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3891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9509760" y="4974336"/>
            <a:ext cx="3291840" cy="2743200"/>
            <a:chOff x="0" y="0"/>
            <a:chExt cx="4389120" cy="36576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3891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4389120" cy="3695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🫁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Radiographie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main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2867637" y="6283957"/>
            <a:ext cx="599437" cy="50797"/>
            <a:chOff x="0" y="0"/>
            <a:chExt cx="799249" cy="67729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33909" y="0"/>
              <a:ext cx="731520" cy="67691"/>
            </a:xfrm>
            <a:custGeom>
              <a:avLst/>
              <a:gdLst/>
              <a:ahLst/>
              <a:cxnLst/>
              <a:rect r="r" b="b" t="t" l="l"/>
              <a:pathLst>
                <a:path h="67691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3533120" y="4974336"/>
            <a:ext cx="3291840" cy="2743200"/>
            <a:chOff x="0" y="0"/>
            <a:chExt cx="4389120" cy="36576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3891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E0CC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3533120" y="4974336"/>
            <a:ext cx="3291840" cy="2743200"/>
            <a:chOff x="0" y="0"/>
            <a:chExt cx="4389120" cy="36576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3891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4389120" cy="3695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A0330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🔥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A0330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Heatmap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A0330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Grad-CAM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418320" y="8010144"/>
            <a:ext cx="7955280" cy="1188720"/>
            <a:chOff x="0" y="0"/>
            <a:chExt cx="10607040" cy="158496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6070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0399" r="0" b="-80399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1060704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7C47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Zones chaudes = zones décisives pour la prédiction → Interprétabilité médicale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176364">
            <a:off x="-4105129" y="653023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79722" y="-4833750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188720"/>
            <a:chOff x="0" y="0"/>
            <a:chExt cx="243840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182880"/>
            <a:ext cx="16824960" cy="822960"/>
            <a:chOff x="0" y="0"/>
            <a:chExt cx="22433280" cy="10972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33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8360" r="0" b="-3483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2433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3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 · APPLICATION STREAMLIT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31520" y="1499616"/>
            <a:ext cx="10058400" cy="768096"/>
            <a:chOff x="0" y="0"/>
            <a:chExt cx="13411200" cy="10241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11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5161" r="0" b="-20516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341120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Interface de démonstration interactive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33727" y="2517391"/>
            <a:ext cx="9522457" cy="1475737"/>
            <a:chOff x="0" y="0"/>
            <a:chExt cx="12696609" cy="19676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8509" y="8509"/>
              <a:ext cx="126796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0F9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696699" cy="1967738"/>
            </a:xfrm>
            <a:custGeom>
              <a:avLst/>
              <a:gdLst/>
              <a:ahLst/>
              <a:cxnLst/>
              <a:rect r="r" b="b" t="t" l="l"/>
              <a:pathLst>
                <a:path h="1967738" w="12696699">
                  <a:moveTo>
                    <a:pt x="8509" y="0"/>
                  </a:moveTo>
                  <a:lnTo>
                    <a:pt x="12688189" y="0"/>
                  </a:lnTo>
                  <a:cubicBezTo>
                    <a:pt x="12692888" y="0"/>
                    <a:pt x="12696699" y="3810"/>
                    <a:pt x="12696699" y="8509"/>
                  </a:cubicBezTo>
                  <a:lnTo>
                    <a:pt x="12696699" y="1959229"/>
                  </a:lnTo>
                  <a:cubicBezTo>
                    <a:pt x="12696699" y="1963928"/>
                    <a:pt x="12692888" y="1967738"/>
                    <a:pt x="12688189" y="1967738"/>
                  </a:cubicBezTo>
                  <a:lnTo>
                    <a:pt x="8509" y="1967738"/>
                  </a:lnTo>
                  <a:cubicBezTo>
                    <a:pt x="3810" y="1967738"/>
                    <a:pt x="0" y="1963928"/>
                    <a:pt x="0" y="19592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959229"/>
                  </a:lnTo>
                  <a:lnTo>
                    <a:pt x="8509" y="1959229"/>
                  </a:lnTo>
                  <a:lnTo>
                    <a:pt x="8509" y="1950720"/>
                  </a:lnTo>
                  <a:lnTo>
                    <a:pt x="12688189" y="1950720"/>
                  </a:lnTo>
                  <a:lnTo>
                    <a:pt x="12688189" y="1959229"/>
                  </a:lnTo>
                  <a:lnTo>
                    <a:pt x="12679680" y="1959229"/>
                  </a:lnTo>
                  <a:lnTo>
                    <a:pt x="12679680" y="8509"/>
                  </a:lnTo>
                  <a:lnTo>
                    <a:pt x="12688189" y="8509"/>
                  </a:lnTo>
                  <a:lnTo>
                    <a:pt x="126881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68096" y="2633472"/>
            <a:ext cx="1005840" cy="1005840"/>
            <a:chOff x="0" y="0"/>
            <a:chExt cx="1341120" cy="13411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68096" y="2633472"/>
            <a:ext cx="1005840" cy="1005840"/>
            <a:chOff x="0" y="0"/>
            <a:chExt cx="1341120" cy="1341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975104" y="2633472"/>
            <a:ext cx="7955280" cy="512064"/>
            <a:chOff x="0" y="0"/>
            <a:chExt cx="1060704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07040" cy="682752"/>
            </a:xfrm>
            <a:custGeom>
              <a:avLst/>
              <a:gdLst/>
              <a:ahLst/>
              <a:cxnLst/>
              <a:rect r="r" b="b" t="t" l="l"/>
              <a:pathLst>
                <a:path h="682752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2713" r="0" b="-25271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6070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Upload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75104" y="3218688"/>
            <a:ext cx="7955280" cy="585216"/>
            <a:chOff x="0" y="0"/>
            <a:chExt cx="10607040" cy="7802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07040" cy="780288"/>
            </a:xfrm>
            <a:custGeom>
              <a:avLst/>
              <a:gdLst/>
              <a:ahLst/>
              <a:cxnLst/>
              <a:rect r="r" b="b" t="t" l="l"/>
              <a:pathLst>
                <a:path h="78028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4874" r="0" b="-21487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60704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L'utilisateur charge une radiographie de la main gauche.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33727" y="4254751"/>
            <a:ext cx="9522457" cy="1475737"/>
            <a:chOff x="0" y="0"/>
            <a:chExt cx="12696609" cy="196764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8509" y="8509"/>
              <a:ext cx="126796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696699" cy="1967738"/>
            </a:xfrm>
            <a:custGeom>
              <a:avLst/>
              <a:gdLst/>
              <a:ahLst/>
              <a:cxnLst/>
              <a:rect r="r" b="b" t="t" l="l"/>
              <a:pathLst>
                <a:path h="1967738" w="12696699">
                  <a:moveTo>
                    <a:pt x="8509" y="0"/>
                  </a:moveTo>
                  <a:lnTo>
                    <a:pt x="12688189" y="0"/>
                  </a:lnTo>
                  <a:cubicBezTo>
                    <a:pt x="12692888" y="0"/>
                    <a:pt x="12696699" y="3810"/>
                    <a:pt x="12696699" y="8509"/>
                  </a:cubicBezTo>
                  <a:lnTo>
                    <a:pt x="12696699" y="1959229"/>
                  </a:lnTo>
                  <a:cubicBezTo>
                    <a:pt x="12696699" y="1963928"/>
                    <a:pt x="12692888" y="1967738"/>
                    <a:pt x="12688189" y="1967738"/>
                  </a:cubicBezTo>
                  <a:lnTo>
                    <a:pt x="8509" y="1967738"/>
                  </a:lnTo>
                  <a:cubicBezTo>
                    <a:pt x="3810" y="1967738"/>
                    <a:pt x="0" y="1963928"/>
                    <a:pt x="0" y="19592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959229"/>
                  </a:lnTo>
                  <a:lnTo>
                    <a:pt x="8509" y="1959229"/>
                  </a:lnTo>
                  <a:lnTo>
                    <a:pt x="8509" y="1950720"/>
                  </a:lnTo>
                  <a:lnTo>
                    <a:pt x="12688189" y="1950720"/>
                  </a:lnTo>
                  <a:lnTo>
                    <a:pt x="12688189" y="1959229"/>
                  </a:lnTo>
                  <a:lnTo>
                    <a:pt x="12679680" y="1959229"/>
                  </a:lnTo>
                  <a:lnTo>
                    <a:pt x="12679680" y="8509"/>
                  </a:lnTo>
                  <a:lnTo>
                    <a:pt x="12688189" y="8509"/>
                  </a:lnTo>
                  <a:lnTo>
                    <a:pt x="126881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68096" y="4370832"/>
            <a:ext cx="1005840" cy="1005840"/>
            <a:chOff x="0" y="0"/>
            <a:chExt cx="1341120" cy="13411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768096" y="4370832"/>
            <a:ext cx="1005840" cy="1005840"/>
            <a:chOff x="0" y="0"/>
            <a:chExt cx="1341120" cy="13411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975104" y="4370832"/>
            <a:ext cx="7955280" cy="512064"/>
            <a:chOff x="0" y="0"/>
            <a:chExt cx="10607040" cy="6827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607040" cy="682752"/>
            </a:xfrm>
            <a:custGeom>
              <a:avLst/>
              <a:gdLst/>
              <a:ahLst/>
              <a:cxnLst/>
              <a:rect r="r" b="b" t="t" l="l"/>
              <a:pathLst>
                <a:path h="682752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2713" r="0" b="-25271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06070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Prétraitement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975104" y="4956048"/>
            <a:ext cx="7955280" cy="585216"/>
            <a:chOff x="0" y="0"/>
            <a:chExt cx="10607040" cy="7802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607040" cy="780288"/>
            </a:xfrm>
            <a:custGeom>
              <a:avLst/>
              <a:gdLst/>
              <a:ahLst/>
              <a:cxnLst/>
              <a:rect r="r" b="b" t="t" l="l"/>
              <a:pathLst>
                <a:path h="78028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4874" r="0" b="-21487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060704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Redimensionnement et normalisation automatiques avant inférence.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33727" y="5992111"/>
            <a:ext cx="9522457" cy="1475737"/>
            <a:chOff x="0" y="0"/>
            <a:chExt cx="12696609" cy="196764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8509" y="8509"/>
              <a:ext cx="126796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0F9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696699" cy="1967738"/>
            </a:xfrm>
            <a:custGeom>
              <a:avLst/>
              <a:gdLst/>
              <a:ahLst/>
              <a:cxnLst/>
              <a:rect r="r" b="b" t="t" l="l"/>
              <a:pathLst>
                <a:path h="1967738" w="12696699">
                  <a:moveTo>
                    <a:pt x="8509" y="0"/>
                  </a:moveTo>
                  <a:lnTo>
                    <a:pt x="12688189" y="0"/>
                  </a:lnTo>
                  <a:cubicBezTo>
                    <a:pt x="12692888" y="0"/>
                    <a:pt x="12696699" y="3810"/>
                    <a:pt x="12696699" y="8509"/>
                  </a:cubicBezTo>
                  <a:lnTo>
                    <a:pt x="12696699" y="1959229"/>
                  </a:lnTo>
                  <a:cubicBezTo>
                    <a:pt x="12696699" y="1963928"/>
                    <a:pt x="12692888" y="1967738"/>
                    <a:pt x="12688189" y="1967738"/>
                  </a:cubicBezTo>
                  <a:lnTo>
                    <a:pt x="8509" y="1967738"/>
                  </a:lnTo>
                  <a:cubicBezTo>
                    <a:pt x="3810" y="1967738"/>
                    <a:pt x="0" y="1963928"/>
                    <a:pt x="0" y="19592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959229"/>
                  </a:lnTo>
                  <a:lnTo>
                    <a:pt x="8509" y="1959229"/>
                  </a:lnTo>
                  <a:lnTo>
                    <a:pt x="8509" y="1950720"/>
                  </a:lnTo>
                  <a:lnTo>
                    <a:pt x="12688189" y="1950720"/>
                  </a:lnTo>
                  <a:lnTo>
                    <a:pt x="12688189" y="1959229"/>
                  </a:lnTo>
                  <a:lnTo>
                    <a:pt x="12679680" y="1959229"/>
                  </a:lnTo>
                  <a:lnTo>
                    <a:pt x="12679680" y="8509"/>
                  </a:lnTo>
                  <a:lnTo>
                    <a:pt x="12688189" y="8509"/>
                  </a:lnTo>
                  <a:lnTo>
                    <a:pt x="126881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68096" y="6108192"/>
            <a:ext cx="1005840" cy="1005840"/>
            <a:chOff x="0" y="0"/>
            <a:chExt cx="1341120" cy="13411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768096" y="6108192"/>
            <a:ext cx="1005840" cy="1005840"/>
            <a:chOff x="0" y="0"/>
            <a:chExt cx="1341120" cy="13411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975104" y="6108192"/>
            <a:ext cx="7955280" cy="512064"/>
            <a:chOff x="0" y="0"/>
            <a:chExt cx="10607040" cy="68275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607040" cy="682752"/>
            </a:xfrm>
            <a:custGeom>
              <a:avLst/>
              <a:gdLst/>
              <a:ahLst/>
              <a:cxnLst/>
              <a:rect r="r" b="b" t="t" l="l"/>
              <a:pathLst>
                <a:path h="682752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2713" r="0" b="-25271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06070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Prédiction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975104" y="6693408"/>
            <a:ext cx="7955280" cy="585216"/>
            <a:chOff x="0" y="0"/>
            <a:chExt cx="10607040" cy="78028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607040" cy="780288"/>
            </a:xfrm>
            <a:custGeom>
              <a:avLst/>
              <a:gdLst/>
              <a:ahLst/>
              <a:cxnLst/>
              <a:rect r="r" b="b" t="t" l="l"/>
              <a:pathLst>
                <a:path h="78028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4874" r="0" b="-21487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1060704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 modèle EfficientNetB0 prédit l'âge osseux en mois.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33727" y="7729471"/>
            <a:ext cx="9522457" cy="1475737"/>
            <a:chOff x="0" y="0"/>
            <a:chExt cx="12696609" cy="196764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8509" y="8509"/>
              <a:ext cx="126796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696699" cy="1967738"/>
            </a:xfrm>
            <a:custGeom>
              <a:avLst/>
              <a:gdLst/>
              <a:ahLst/>
              <a:cxnLst/>
              <a:rect r="r" b="b" t="t" l="l"/>
              <a:pathLst>
                <a:path h="1967738" w="12696699">
                  <a:moveTo>
                    <a:pt x="8509" y="0"/>
                  </a:moveTo>
                  <a:lnTo>
                    <a:pt x="12688189" y="0"/>
                  </a:lnTo>
                  <a:cubicBezTo>
                    <a:pt x="12692888" y="0"/>
                    <a:pt x="12696699" y="3810"/>
                    <a:pt x="12696699" y="8509"/>
                  </a:cubicBezTo>
                  <a:lnTo>
                    <a:pt x="12696699" y="1959229"/>
                  </a:lnTo>
                  <a:cubicBezTo>
                    <a:pt x="12696699" y="1963928"/>
                    <a:pt x="12692888" y="1967738"/>
                    <a:pt x="12688189" y="1967738"/>
                  </a:cubicBezTo>
                  <a:lnTo>
                    <a:pt x="8509" y="1967738"/>
                  </a:lnTo>
                  <a:cubicBezTo>
                    <a:pt x="3810" y="1967738"/>
                    <a:pt x="0" y="1963928"/>
                    <a:pt x="0" y="19592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959229"/>
                  </a:lnTo>
                  <a:lnTo>
                    <a:pt x="8509" y="1959229"/>
                  </a:lnTo>
                  <a:lnTo>
                    <a:pt x="8509" y="1950720"/>
                  </a:lnTo>
                  <a:lnTo>
                    <a:pt x="12688189" y="1950720"/>
                  </a:lnTo>
                  <a:lnTo>
                    <a:pt x="12688189" y="1959229"/>
                  </a:lnTo>
                  <a:lnTo>
                    <a:pt x="12679680" y="1959229"/>
                  </a:lnTo>
                  <a:lnTo>
                    <a:pt x="12679680" y="8509"/>
                  </a:lnTo>
                  <a:lnTo>
                    <a:pt x="12688189" y="8509"/>
                  </a:lnTo>
                  <a:lnTo>
                    <a:pt x="126881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768096" y="7845552"/>
            <a:ext cx="1005840" cy="1005840"/>
            <a:chOff x="0" y="0"/>
            <a:chExt cx="1341120" cy="13411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768096" y="7845552"/>
            <a:ext cx="1005840" cy="1005840"/>
            <a:chOff x="0" y="0"/>
            <a:chExt cx="1341120" cy="13411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975104" y="7845552"/>
            <a:ext cx="7955280" cy="512064"/>
            <a:chOff x="0" y="0"/>
            <a:chExt cx="10607040" cy="6827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607040" cy="682752"/>
            </a:xfrm>
            <a:custGeom>
              <a:avLst/>
              <a:gdLst/>
              <a:ahLst/>
              <a:cxnLst/>
              <a:rect r="r" b="b" t="t" l="l"/>
              <a:pathLst>
                <a:path h="682752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2713" r="0" b="-25271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06070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Résultat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975104" y="8430768"/>
            <a:ext cx="7955280" cy="585216"/>
            <a:chOff x="0" y="0"/>
            <a:chExt cx="10607040" cy="78028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607040" cy="780288"/>
            </a:xfrm>
            <a:custGeom>
              <a:avLst/>
              <a:gdLst/>
              <a:ahLst/>
              <a:cxnLst/>
              <a:rect r="r" b="b" t="t" l="l"/>
              <a:pathLst>
                <a:path h="78028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4874" r="0" b="-21487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060704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Affichage de l'âge estimé — déployable sur Streamlit Cloud / HF Spaces.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972800" y="1499616"/>
            <a:ext cx="6675120" cy="8229600"/>
            <a:chOff x="0" y="0"/>
            <a:chExt cx="8900160" cy="10972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90016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10972800"/>
                  </a:lnTo>
                  <a:lnTo>
                    <a:pt x="0" y="10972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1247120" y="1682496"/>
            <a:ext cx="6126480" cy="768096"/>
            <a:chOff x="0" y="0"/>
            <a:chExt cx="8168640" cy="102412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1686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5416" r="0" b="-105416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81686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Stack Technique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1247120" y="2706624"/>
            <a:ext cx="6126480" cy="877824"/>
            <a:chOff x="0" y="0"/>
            <a:chExt cx="8168640" cy="117043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168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1430000" y="2761488"/>
            <a:ext cx="1828800" cy="512064"/>
            <a:chOff x="0" y="0"/>
            <a:chExt cx="2438400" cy="68275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438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24384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Modèle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3350240" y="2761488"/>
            <a:ext cx="3840480" cy="512064"/>
            <a:chOff x="0" y="0"/>
            <a:chExt cx="5120640" cy="68275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120640" cy="682752"/>
            </a:xfrm>
            <a:custGeom>
              <a:avLst/>
              <a:gdLst/>
              <a:ahLst/>
              <a:cxnLst/>
              <a:rect r="r" b="b" t="t" l="l"/>
              <a:pathLst>
                <a:path h="68275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51206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EfficientNetB0 (.keras)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1247120" y="3767328"/>
            <a:ext cx="6126480" cy="877824"/>
            <a:chOff x="0" y="0"/>
            <a:chExt cx="8168640" cy="117043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168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1430000" y="3822192"/>
            <a:ext cx="1828800" cy="512064"/>
            <a:chOff x="0" y="0"/>
            <a:chExt cx="2438400" cy="682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438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24384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Framework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3350240" y="3822192"/>
            <a:ext cx="3840480" cy="512064"/>
            <a:chOff x="0" y="0"/>
            <a:chExt cx="5120640" cy="68275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120640" cy="682752"/>
            </a:xfrm>
            <a:custGeom>
              <a:avLst/>
              <a:gdLst/>
              <a:ahLst/>
              <a:cxnLst/>
              <a:rect r="r" b="b" t="t" l="l"/>
              <a:pathLst>
                <a:path h="68275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51206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TensorFlow / Keras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1247120" y="4828032"/>
            <a:ext cx="6126480" cy="877824"/>
            <a:chOff x="0" y="0"/>
            <a:chExt cx="8168640" cy="117043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168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1430000" y="4882896"/>
            <a:ext cx="1828800" cy="512064"/>
            <a:chOff x="0" y="0"/>
            <a:chExt cx="2438400" cy="68275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438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24384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Interface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3350240" y="4882896"/>
            <a:ext cx="3840480" cy="512064"/>
            <a:chOff x="0" y="0"/>
            <a:chExt cx="5120640" cy="68275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120640" cy="682752"/>
            </a:xfrm>
            <a:custGeom>
              <a:avLst/>
              <a:gdLst/>
              <a:ahLst/>
              <a:cxnLst/>
              <a:rect r="r" b="b" t="t" l="l"/>
              <a:pathLst>
                <a:path h="68275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51206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Streamlit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1247120" y="5888736"/>
            <a:ext cx="6126480" cy="877824"/>
            <a:chOff x="0" y="0"/>
            <a:chExt cx="8168640" cy="117043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8168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1430000" y="5943600"/>
            <a:ext cx="1828800" cy="512064"/>
            <a:chOff x="0" y="0"/>
            <a:chExt cx="2438400" cy="68275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438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24384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Déploiement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3350240" y="5943600"/>
            <a:ext cx="3840480" cy="512064"/>
            <a:chOff x="0" y="0"/>
            <a:chExt cx="5120640" cy="68275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120640" cy="682752"/>
            </a:xfrm>
            <a:custGeom>
              <a:avLst/>
              <a:gdLst/>
              <a:ahLst/>
              <a:cxnLst/>
              <a:rect r="r" b="b" t="t" l="l"/>
              <a:pathLst>
                <a:path h="68275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51206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Streamlit Cloud · HuggingFace Spaces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1247120" y="6949440"/>
            <a:ext cx="6126480" cy="877824"/>
            <a:chOff x="0" y="0"/>
            <a:chExt cx="8168640" cy="117043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8168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1430000" y="7004304"/>
            <a:ext cx="1828800" cy="512064"/>
            <a:chOff x="0" y="0"/>
            <a:chExt cx="2438400" cy="68275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438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24384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Entrée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3350240" y="7004304"/>
            <a:ext cx="3840480" cy="512064"/>
            <a:chOff x="0" y="0"/>
            <a:chExt cx="5120640" cy="68275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5120640" cy="682752"/>
            </a:xfrm>
            <a:custGeom>
              <a:avLst/>
              <a:gdLst/>
              <a:ahLst/>
              <a:cxnLst/>
              <a:rect r="r" b="b" t="t" l="l"/>
              <a:pathLst>
                <a:path h="68275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51206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Image radiographie (JPEG/PNG)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1247120" y="8010144"/>
            <a:ext cx="6126480" cy="877824"/>
            <a:chOff x="0" y="0"/>
            <a:chExt cx="8168640" cy="117043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8168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1430000" y="8065008"/>
            <a:ext cx="1828800" cy="512064"/>
            <a:chOff x="0" y="0"/>
            <a:chExt cx="2438400" cy="68275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438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24384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Sortie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3350240" y="8065008"/>
            <a:ext cx="3840480" cy="512064"/>
            <a:chOff x="0" y="0"/>
            <a:chExt cx="5120640" cy="682752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5120640" cy="682752"/>
            </a:xfrm>
            <a:custGeom>
              <a:avLst/>
              <a:gdLst/>
              <a:ahLst/>
              <a:cxnLst/>
              <a:rect r="r" b="b" t="t" l="l"/>
              <a:pathLst>
                <a:path h="68275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51206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Âge osseux en mois (float)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03406" y="6681464"/>
            <a:ext cx="6709932" cy="6885191"/>
          </a:xfrm>
          <a:custGeom>
            <a:avLst/>
            <a:gdLst/>
            <a:ahLst/>
            <a:cxnLst/>
            <a:rect r="r" b="b" t="t" l="l"/>
            <a:pathLst>
              <a:path h="6885191" w="6709932">
                <a:moveTo>
                  <a:pt x="0" y="0"/>
                </a:moveTo>
                <a:lnTo>
                  <a:pt x="6709932" y="0"/>
                </a:lnTo>
                <a:lnTo>
                  <a:pt x="6709932" y="6885191"/>
                </a:lnTo>
                <a:lnTo>
                  <a:pt x="0" y="68851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16244" y="-2216664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7" y="0"/>
                </a:lnTo>
                <a:lnTo>
                  <a:pt x="7616557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188720"/>
            <a:chOff x="0" y="0"/>
            <a:chExt cx="243840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182880"/>
            <a:ext cx="16824960" cy="822960"/>
            <a:chOff x="0" y="0"/>
            <a:chExt cx="22433280" cy="10972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33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8360" r="0" b="-3483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2433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3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LIMITES &amp; PISTES D'AMÉLIORATION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31520" y="1499616"/>
            <a:ext cx="8229600" cy="768096"/>
            <a:chOff x="0" y="0"/>
            <a:chExt cx="10972800" cy="10241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097280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Points de vigilance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33727" y="2553967"/>
            <a:ext cx="8425177" cy="1201417"/>
            <a:chOff x="0" y="0"/>
            <a:chExt cx="11233569" cy="16018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8509" y="8509"/>
              <a:ext cx="11216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1F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233658" cy="1601978"/>
            </a:xfrm>
            <a:custGeom>
              <a:avLst/>
              <a:gdLst/>
              <a:ahLst/>
              <a:cxnLst/>
              <a:rect r="r" b="b" t="t" l="l"/>
              <a:pathLst>
                <a:path h="160197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1593469"/>
                  </a:lnTo>
                  <a:cubicBezTo>
                    <a:pt x="11233658" y="1598168"/>
                    <a:pt x="11229848" y="1601978"/>
                    <a:pt x="11225149" y="1601978"/>
                  </a:cubicBezTo>
                  <a:lnTo>
                    <a:pt x="8509" y="1601978"/>
                  </a:lnTo>
                  <a:cubicBezTo>
                    <a:pt x="3810" y="1601978"/>
                    <a:pt x="0" y="1598168"/>
                    <a:pt x="0" y="1593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93469"/>
                  </a:lnTo>
                  <a:lnTo>
                    <a:pt x="8509" y="1593469"/>
                  </a:lnTo>
                  <a:lnTo>
                    <a:pt x="8509" y="1584960"/>
                  </a:lnTo>
                  <a:lnTo>
                    <a:pt x="11225149" y="1584960"/>
                  </a:lnTo>
                  <a:lnTo>
                    <a:pt x="11225149" y="1593469"/>
                  </a:lnTo>
                  <a:lnTo>
                    <a:pt x="11216640" y="159346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40080" y="2560320"/>
            <a:ext cx="822960" cy="1188720"/>
            <a:chOff x="0" y="0"/>
            <a:chExt cx="1097280" cy="1584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0080" y="2560320"/>
            <a:ext cx="822960" cy="1188720"/>
            <a:chOff x="0" y="0"/>
            <a:chExt cx="1097280" cy="1584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35327" t="0" r="-135327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9728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45920" y="2560320"/>
            <a:ext cx="7223760" cy="1188720"/>
            <a:chOff x="0" y="0"/>
            <a:chExt cx="9631680" cy="1584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316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8409" r="0" b="-6840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63168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Tâche de régression continue — pas de classification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3727" y="4017007"/>
            <a:ext cx="8425177" cy="1201417"/>
            <a:chOff x="0" y="0"/>
            <a:chExt cx="11233569" cy="160188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8509" y="8509"/>
              <a:ext cx="11216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1F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233658" cy="1601978"/>
            </a:xfrm>
            <a:custGeom>
              <a:avLst/>
              <a:gdLst/>
              <a:ahLst/>
              <a:cxnLst/>
              <a:rect r="r" b="b" t="t" l="l"/>
              <a:pathLst>
                <a:path h="160197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1593469"/>
                  </a:lnTo>
                  <a:cubicBezTo>
                    <a:pt x="11233658" y="1598168"/>
                    <a:pt x="11229848" y="1601978"/>
                    <a:pt x="11225149" y="1601978"/>
                  </a:cubicBezTo>
                  <a:lnTo>
                    <a:pt x="8509" y="1601978"/>
                  </a:lnTo>
                  <a:cubicBezTo>
                    <a:pt x="3810" y="1601978"/>
                    <a:pt x="0" y="1598168"/>
                    <a:pt x="0" y="1593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93469"/>
                  </a:lnTo>
                  <a:lnTo>
                    <a:pt x="8509" y="1593469"/>
                  </a:lnTo>
                  <a:lnTo>
                    <a:pt x="8509" y="1584960"/>
                  </a:lnTo>
                  <a:lnTo>
                    <a:pt x="11225149" y="1584960"/>
                  </a:lnTo>
                  <a:lnTo>
                    <a:pt x="11225149" y="1593469"/>
                  </a:lnTo>
                  <a:lnTo>
                    <a:pt x="11216640" y="159346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40080" y="4023360"/>
            <a:ext cx="822960" cy="1188720"/>
            <a:chOff x="0" y="0"/>
            <a:chExt cx="1097280" cy="1584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40080" y="4023360"/>
            <a:ext cx="822960" cy="1188720"/>
            <a:chOff x="0" y="0"/>
            <a:chExt cx="1097280" cy="15849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35327" t="0" r="-135327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09728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45920" y="4023360"/>
            <a:ext cx="7223760" cy="1188720"/>
            <a:chOff x="0" y="0"/>
            <a:chExt cx="9631680" cy="15849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6316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8409" r="0" b="-6840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963168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Résultats à interpréter avec prudence en contexte médical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33727" y="5480047"/>
            <a:ext cx="8425177" cy="1201417"/>
            <a:chOff x="0" y="0"/>
            <a:chExt cx="11233569" cy="160188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8509" y="8509"/>
              <a:ext cx="11216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1F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233658" cy="1601978"/>
            </a:xfrm>
            <a:custGeom>
              <a:avLst/>
              <a:gdLst/>
              <a:ahLst/>
              <a:cxnLst/>
              <a:rect r="r" b="b" t="t" l="l"/>
              <a:pathLst>
                <a:path h="160197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1593469"/>
                  </a:lnTo>
                  <a:cubicBezTo>
                    <a:pt x="11233658" y="1598168"/>
                    <a:pt x="11229848" y="1601978"/>
                    <a:pt x="11225149" y="1601978"/>
                  </a:cubicBezTo>
                  <a:lnTo>
                    <a:pt x="8509" y="1601978"/>
                  </a:lnTo>
                  <a:cubicBezTo>
                    <a:pt x="3810" y="1601978"/>
                    <a:pt x="0" y="1598168"/>
                    <a:pt x="0" y="1593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93469"/>
                  </a:lnTo>
                  <a:lnTo>
                    <a:pt x="8509" y="1593469"/>
                  </a:lnTo>
                  <a:lnTo>
                    <a:pt x="8509" y="1584960"/>
                  </a:lnTo>
                  <a:lnTo>
                    <a:pt x="11225149" y="1584960"/>
                  </a:lnTo>
                  <a:lnTo>
                    <a:pt x="11225149" y="1593469"/>
                  </a:lnTo>
                  <a:lnTo>
                    <a:pt x="11216640" y="159346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40080" y="5486400"/>
            <a:ext cx="822960" cy="1188720"/>
            <a:chOff x="0" y="0"/>
            <a:chExt cx="1097280" cy="15849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40080" y="5486400"/>
            <a:ext cx="822960" cy="1188720"/>
            <a:chOff x="0" y="0"/>
            <a:chExt cx="1097280" cy="15849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35327" t="0" r="-135327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09728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645920" y="5486400"/>
            <a:ext cx="7223760" cy="1188720"/>
            <a:chOff x="0" y="0"/>
            <a:chExt cx="9631680" cy="15849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6316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8409" r="0" b="-6840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963168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Biais potentiels liés à l'âge, au genre ou à la qualité d'acquisition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33727" y="6943087"/>
            <a:ext cx="8425177" cy="1201417"/>
            <a:chOff x="0" y="0"/>
            <a:chExt cx="11233569" cy="160188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8509" y="8509"/>
              <a:ext cx="11216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1F0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233658" cy="1601978"/>
            </a:xfrm>
            <a:custGeom>
              <a:avLst/>
              <a:gdLst/>
              <a:ahLst/>
              <a:cxnLst/>
              <a:rect r="r" b="b" t="t" l="l"/>
              <a:pathLst>
                <a:path h="160197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1593469"/>
                  </a:lnTo>
                  <a:cubicBezTo>
                    <a:pt x="11233658" y="1598168"/>
                    <a:pt x="11229848" y="1601978"/>
                    <a:pt x="11225149" y="1601978"/>
                  </a:cubicBezTo>
                  <a:lnTo>
                    <a:pt x="8509" y="1601978"/>
                  </a:lnTo>
                  <a:cubicBezTo>
                    <a:pt x="3810" y="1601978"/>
                    <a:pt x="0" y="1598168"/>
                    <a:pt x="0" y="1593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93469"/>
                  </a:lnTo>
                  <a:lnTo>
                    <a:pt x="8509" y="1593469"/>
                  </a:lnTo>
                  <a:lnTo>
                    <a:pt x="8509" y="1584960"/>
                  </a:lnTo>
                  <a:lnTo>
                    <a:pt x="11225149" y="1584960"/>
                  </a:lnTo>
                  <a:lnTo>
                    <a:pt x="11225149" y="1593469"/>
                  </a:lnTo>
                  <a:lnTo>
                    <a:pt x="11216640" y="159346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640080" y="6949440"/>
            <a:ext cx="822960" cy="1188720"/>
            <a:chOff x="0" y="0"/>
            <a:chExt cx="1097280" cy="15849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40080" y="6949440"/>
            <a:ext cx="822960" cy="1188720"/>
            <a:chOff x="0" y="0"/>
            <a:chExt cx="1097280" cy="15849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35327" t="0" r="-135327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09728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45920" y="6949440"/>
            <a:ext cx="7223760" cy="1188720"/>
            <a:chOff x="0" y="0"/>
            <a:chExt cx="9631680" cy="15849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6316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8409" r="0" b="-6840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963168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Reproductibilité et documentation des expériences essentielles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692640" y="1499616"/>
            <a:ext cx="7955280" cy="768096"/>
            <a:chOff x="0" y="0"/>
            <a:chExt cx="10607040" cy="102412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607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1809" r="0" b="-15180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1060704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Pour aller plus loin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594847" y="2553967"/>
            <a:ext cx="8059417" cy="1201417"/>
            <a:chOff x="0" y="0"/>
            <a:chExt cx="10745889" cy="160188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8509" y="8509"/>
              <a:ext cx="10728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0FDFB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745978" cy="1601978"/>
            </a:xfrm>
            <a:custGeom>
              <a:avLst/>
              <a:gdLst/>
              <a:ahLst/>
              <a:cxnLst/>
              <a:rect r="r" b="b" t="t" l="l"/>
              <a:pathLst>
                <a:path h="160197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1593469"/>
                  </a:lnTo>
                  <a:cubicBezTo>
                    <a:pt x="10745978" y="1598168"/>
                    <a:pt x="10742168" y="1601978"/>
                    <a:pt x="10737469" y="1601978"/>
                  </a:cubicBezTo>
                  <a:lnTo>
                    <a:pt x="8509" y="1601978"/>
                  </a:lnTo>
                  <a:cubicBezTo>
                    <a:pt x="3810" y="1601978"/>
                    <a:pt x="0" y="1598168"/>
                    <a:pt x="0" y="1593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93469"/>
                  </a:lnTo>
                  <a:lnTo>
                    <a:pt x="8509" y="1593469"/>
                  </a:lnTo>
                  <a:lnTo>
                    <a:pt x="8509" y="1584960"/>
                  </a:lnTo>
                  <a:lnTo>
                    <a:pt x="10737469" y="1584960"/>
                  </a:lnTo>
                  <a:lnTo>
                    <a:pt x="10737469" y="1593469"/>
                  </a:lnTo>
                  <a:lnTo>
                    <a:pt x="10728960" y="159346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729216" y="2688336"/>
            <a:ext cx="822960" cy="822960"/>
            <a:chOff x="0" y="0"/>
            <a:chExt cx="1097280" cy="10972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729216" y="2688336"/>
            <a:ext cx="822960" cy="822960"/>
            <a:chOff x="0" y="0"/>
            <a:chExt cx="1097280" cy="10972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789920" y="2706624"/>
            <a:ext cx="6675120" cy="475488"/>
            <a:chOff x="0" y="0"/>
            <a:chExt cx="8900160" cy="63398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900160" cy="633984"/>
            </a:xfrm>
            <a:custGeom>
              <a:avLst/>
              <a:gdLst/>
              <a:ahLst/>
              <a:cxnLst/>
              <a:rect r="r" b="b" t="t" l="l"/>
              <a:pathLst>
                <a:path h="633984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3539" r="0" b="-223539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890016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Autres backbones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789920" y="3218688"/>
            <a:ext cx="6675120" cy="457200"/>
            <a:chOff x="0" y="0"/>
            <a:chExt cx="8900160" cy="6096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900160" cy="609600"/>
            </a:xfrm>
            <a:custGeom>
              <a:avLst/>
              <a:gdLst/>
              <a:ahLst/>
              <a:cxnLst/>
              <a:rect r="r" b="b" t="t" l="l"/>
              <a:pathLst>
                <a:path h="609600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4481" r="0" b="-23448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89001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Tester ResNet50, MobileNetV3, ViT pour comparaison.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594847" y="4017007"/>
            <a:ext cx="8059417" cy="1201417"/>
            <a:chOff x="0" y="0"/>
            <a:chExt cx="10745889" cy="160188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8509" y="8509"/>
              <a:ext cx="10728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0FDFB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745978" cy="1601978"/>
            </a:xfrm>
            <a:custGeom>
              <a:avLst/>
              <a:gdLst/>
              <a:ahLst/>
              <a:cxnLst/>
              <a:rect r="r" b="b" t="t" l="l"/>
              <a:pathLst>
                <a:path h="160197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1593469"/>
                  </a:lnTo>
                  <a:cubicBezTo>
                    <a:pt x="10745978" y="1598168"/>
                    <a:pt x="10742168" y="1601978"/>
                    <a:pt x="10737469" y="1601978"/>
                  </a:cubicBezTo>
                  <a:lnTo>
                    <a:pt x="8509" y="1601978"/>
                  </a:lnTo>
                  <a:cubicBezTo>
                    <a:pt x="3810" y="1601978"/>
                    <a:pt x="0" y="1598168"/>
                    <a:pt x="0" y="1593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93469"/>
                  </a:lnTo>
                  <a:lnTo>
                    <a:pt x="8509" y="1593469"/>
                  </a:lnTo>
                  <a:lnTo>
                    <a:pt x="8509" y="1584960"/>
                  </a:lnTo>
                  <a:lnTo>
                    <a:pt x="10737469" y="1584960"/>
                  </a:lnTo>
                  <a:lnTo>
                    <a:pt x="10737469" y="1593469"/>
                  </a:lnTo>
                  <a:lnTo>
                    <a:pt x="10728960" y="159346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729216" y="4151376"/>
            <a:ext cx="822960" cy="822960"/>
            <a:chOff x="0" y="0"/>
            <a:chExt cx="1097280" cy="10972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729216" y="4151376"/>
            <a:ext cx="822960" cy="822960"/>
            <a:chOff x="0" y="0"/>
            <a:chExt cx="1097280" cy="10972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789920" y="4169664"/>
            <a:ext cx="6675120" cy="475488"/>
            <a:chOff x="0" y="0"/>
            <a:chExt cx="8900160" cy="63398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900160" cy="633984"/>
            </a:xfrm>
            <a:custGeom>
              <a:avLst/>
              <a:gdLst/>
              <a:ahLst/>
              <a:cxnLst/>
              <a:rect r="r" b="b" t="t" l="l"/>
              <a:pathLst>
                <a:path h="633984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3539" r="0" b="-223539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890016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Augmentation avancée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789920" y="4681728"/>
            <a:ext cx="6675120" cy="457200"/>
            <a:chOff x="0" y="0"/>
            <a:chExt cx="8900160" cy="6096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900160" cy="609600"/>
            </a:xfrm>
            <a:custGeom>
              <a:avLst/>
              <a:gdLst/>
              <a:ahLst/>
              <a:cxnLst/>
              <a:rect r="r" b="b" t="t" l="l"/>
              <a:pathLst>
                <a:path h="609600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4481" r="0" b="-234481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89001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Affiner la stratégie d'augmentation et de fine-tuning.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594847" y="5480047"/>
            <a:ext cx="8059417" cy="1201417"/>
            <a:chOff x="0" y="0"/>
            <a:chExt cx="10745889" cy="160188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8509" y="8509"/>
              <a:ext cx="10728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0FDFB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745978" cy="1601978"/>
            </a:xfrm>
            <a:custGeom>
              <a:avLst/>
              <a:gdLst/>
              <a:ahLst/>
              <a:cxnLst/>
              <a:rect r="r" b="b" t="t" l="l"/>
              <a:pathLst>
                <a:path h="160197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1593469"/>
                  </a:lnTo>
                  <a:cubicBezTo>
                    <a:pt x="10745978" y="1598168"/>
                    <a:pt x="10742168" y="1601978"/>
                    <a:pt x="10737469" y="1601978"/>
                  </a:cubicBezTo>
                  <a:lnTo>
                    <a:pt x="8509" y="1601978"/>
                  </a:lnTo>
                  <a:cubicBezTo>
                    <a:pt x="3810" y="1601978"/>
                    <a:pt x="0" y="1598168"/>
                    <a:pt x="0" y="1593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93469"/>
                  </a:lnTo>
                  <a:lnTo>
                    <a:pt x="8509" y="1593469"/>
                  </a:lnTo>
                  <a:lnTo>
                    <a:pt x="8509" y="1584960"/>
                  </a:lnTo>
                  <a:lnTo>
                    <a:pt x="10737469" y="1584960"/>
                  </a:lnTo>
                  <a:lnTo>
                    <a:pt x="10737469" y="1593469"/>
                  </a:lnTo>
                  <a:lnTo>
                    <a:pt x="10728960" y="159346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9729216" y="5614416"/>
            <a:ext cx="822960" cy="822960"/>
            <a:chOff x="0" y="0"/>
            <a:chExt cx="1097280" cy="109728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729216" y="5614416"/>
            <a:ext cx="822960" cy="822960"/>
            <a:chOff x="0" y="0"/>
            <a:chExt cx="1097280" cy="10972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789920" y="5632704"/>
            <a:ext cx="6675120" cy="475488"/>
            <a:chOff x="0" y="0"/>
            <a:chExt cx="8900160" cy="63398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8900160" cy="633984"/>
            </a:xfrm>
            <a:custGeom>
              <a:avLst/>
              <a:gdLst/>
              <a:ahLst/>
              <a:cxnLst/>
              <a:rect r="r" b="b" t="t" l="l"/>
              <a:pathLst>
                <a:path h="633984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3539" r="0" b="-223539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890016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Explainabilité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0789920" y="6144768"/>
            <a:ext cx="6675120" cy="457200"/>
            <a:chOff x="0" y="0"/>
            <a:chExt cx="8900160" cy="6096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8900160" cy="609600"/>
            </a:xfrm>
            <a:custGeom>
              <a:avLst/>
              <a:gdLst/>
              <a:ahLst/>
              <a:cxnLst/>
              <a:rect r="r" b="b" t="t" l="l"/>
              <a:pathLst>
                <a:path h="609600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4481" r="0" b="-234481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89001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Compléter la démo Streamlit avec page d'explication des prédictions.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594847" y="6943087"/>
            <a:ext cx="8059417" cy="1201417"/>
            <a:chOff x="0" y="0"/>
            <a:chExt cx="10745889" cy="160188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8509" y="8509"/>
              <a:ext cx="10728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0FDFB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0745978" cy="1601978"/>
            </a:xfrm>
            <a:custGeom>
              <a:avLst/>
              <a:gdLst/>
              <a:ahLst/>
              <a:cxnLst/>
              <a:rect r="r" b="b" t="t" l="l"/>
              <a:pathLst>
                <a:path h="160197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1593469"/>
                  </a:lnTo>
                  <a:cubicBezTo>
                    <a:pt x="10745978" y="1598168"/>
                    <a:pt x="10742168" y="1601978"/>
                    <a:pt x="10737469" y="1601978"/>
                  </a:cubicBezTo>
                  <a:lnTo>
                    <a:pt x="8509" y="1601978"/>
                  </a:lnTo>
                  <a:cubicBezTo>
                    <a:pt x="3810" y="1601978"/>
                    <a:pt x="0" y="1598168"/>
                    <a:pt x="0" y="1593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93469"/>
                  </a:lnTo>
                  <a:lnTo>
                    <a:pt x="8509" y="1593469"/>
                  </a:lnTo>
                  <a:lnTo>
                    <a:pt x="8509" y="1584960"/>
                  </a:lnTo>
                  <a:lnTo>
                    <a:pt x="10737469" y="1584960"/>
                  </a:lnTo>
                  <a:lnTo>
                    <a:pt x="10737469" y="1593469"/>
                  </a:lnTo>
                  <a:lnTo>
                    <a:pt x="10728960" y="159346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9729216" y="7077456"/>
            <a:ext cx="822960" cy="822960"/>
            <a:chOff x="0" y="0"/>
            <a:chExt cx="1097280" cy="10972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9729216" y="7077456"/>
            <a:ext cx="822960" cy="822960"/>
            <a:chOff x="0" y="0"/>
            <a:chExt cx="1097280" cy="109728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0789920" y="7095744"/>
            <a:ext cx="6675120" cy="475488"/>
            <a:chOff x="0" y="0"/>
            <a:chExt cx="8900160" cy="633984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8900160" cy="633984"/>
            </a:xfrm>
            <a:custGeom>
              <a:avLst/>
              <a:gdLst/>
              <a:ahLst/>
              <a:cxnLst/>
              <a:rect r="r" b="b" t="t" l="l"/>
              <a:pathLst>
                <a:path h="633984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3539" r="0" b="-223539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47625"/>
              <a:ext cx="890016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MLflow / W&amp;B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0789920" y="7607808"/>
            <a:ext cx="6675120" cy="457200"/>
            <a:chOff x="0" y="0"/>
            <a:chExt cx="8900160" cy="60960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8900160" cy="609600"/>
            </a:xfrm>
            <a:custGeom>
              <a:avLst/>
              <a:gdLst/>
              <a:ahLst/>
              <a:cxnLst/>
              <a:rect r="r" b="b" t="t" l="l"/>
              <a:pathLst>
                <a:path h="609600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4481" r="0" b="-234481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89001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Suivi formel des expériences pour reproductibilité.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49553" y="-2749553"/>
            <a:ext cx="9156697" cy="9156697"/>
            <a:chOff x="0" y="0"/>
            <a:chExt cx="12208929" cy="12208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509" y="8509"/>
              <a:ext cx="1219200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12192000">
                  <a:moveTo>
                    <a:pt x="0" y="6096000"/>
                  </a:moveTo>
                  <a:cubicBezTo>
                    <a:pt x="0" y="2729230"/>
                    <a:pt x="2729230" y="0"/>
                    <a:pt x="6096000" y="0"/>
                  </a:cubicBezTo>
                  <a:cubicBezTo>
                    <a:pt x="9462770" y="0"/>
                    <a:pt x="12192000" y="2729230"/>
                    <a:pt x="12192000" y="6096000"/>
                  </a:cubicBezTo>
                  <a:cubicBezTo>
                    <a:pt x="12192000" y="9462770"/>
                    <a:pt x="9462770" y="12192001"/>
                    <a:pt x="6096000" y="12192001"/>
                  </a:cubicBezTo>
                  <a:cubicBezTo>
                    <a:pt x="2729230" y="12192001"/>
                    <a:pt x="0" y="9462770"/>
                    <a:pt x="0" y="6096000"/>
                  </a:cubicBezTo>
                  <a:close/>
                </a:path>
              </a:pathLst>
            </a:custGeom>
            <a:blipFill>
              <a:blip r:embed="rId2">
                <a:alphaModFix amt="12000"/>
              </a:blip>
              <a:stretch>
                <a:fillRect l="-78482" t="-69" r="-78481" b="-69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08891" cy="12209018"/>
            </a:xfrm>
            <a:custGeom>
              <a:avLst/>
              <a:gdLst/>
              <a:ahLst/>
              <a:cxnLst/>
              <a:rect r="r" b="b" t="t" l="l"/>
              <a:pathLst>
                <a:path h="12209018" w="12208891">
                  <a:moveTo>
                    <a:pt x="0" y="6104509"/>
                  </a:moveTo>
                  <a:cubicBezTo>
                    <a:pt x="0" y="2733040"/>
                    <a:pt x="2733040" y="0"/>
                    <a:pt x="6104509" y="0"/>
                  </a:cubicBezTo>
                  <a:lnTo>
                    <a:pt x="6104509" y="8509"/>
                  </a:lnTo>
                  <a:lnTo>
                    <a:pt x="6104509" y="0"/>
                  </a:lnTo>
                  <a:cubicBezTo>
                    <a:pt x="9475851" y="0"/>
                    <a:pt x="12208891" y="2733040"/>
                    <a:pt x="12208891" y="6104509"/>
                  </a:cubicBezTo>
                  <a:cubicBezTo>
                    <a:pt x="12208891" y="9475851"/>
                    <a:pt x="9475851" y="12209018"/>
                    <a:pt x="6104382" y="12209018"/>
                  </a:cubicBezTo>
                  <a:lnTo>
                    <a:pt x="6104382" y="12200510"/>
                  </a:lnTo>
                  <a:lnTo>
                    <a:pt x="6104382" y="12209018"/>
                  </a:lnTo>
                  <a:cubicBezTo>
                    <a:pt x="2733040" y="12208891"/>
                    <a:pt x="0" y="9475851"/>
                    <a:pt x="0" y="6104509"/>
                  </a:cubicBezTo>
                  <a:lnTo>
                    <a:pt x="8509" y="6104509"/>
                  </a:lnTo>
                  <a:lnTo>
                    <a:pt x="14986" y="6109970"/>
                  </a:lnTo>
                  <a:cubicBezTo>
                    <a:pt x="12700" y="6112637"/>
                    <a:pt x="8890" y="6113653"/>
                    <a:pt x="5588" y="6112383"/>
                  </a:cubicBezTo>
                  <a:cubicBezTo>
                    <a:pt x="2286" y="6111113"/>
                    <a:pt x="0" y="6107938"/>
                    <a:pt x="0" y="6104382"/>
                  </a:cubicBezTo>
                  <a:moveTo>
                    <a:pt x="16891" y="6104382"/>
                  </a:moveTo>
                  <a:lnTo>
                    <a:pt x="8509" y="6104382"/>
                  </a:lnTo>
                  <a:lnTo>
                    <a:pt x="2032" y="6098921"/>
                  </a:lnTo>
                  <a:cubicBezTo>
                    <a:pt x="4318" y="6096254"/>
                    <a:pt x="8128" y="6095238"/>
                    <a:pt x="11430" y="6096508"/>
                  </a:cubicBezTo>
                  <a:cubicBezTo>
                    <a:pt x="14732" y="6097778"/>
                    <a:pt x="17018" y="6100953"/>
                    <a:pt x="17018" y="6104509"/>
                  </a:cubicBezTo>
                  <a:cubicBezTo>
                    <a:pt x="16891" y="9466580"/>
                    <a:pt x="2742438" y="12192000"/>
                    <a:pt x="6104509" y="12192000"/>
                  </a:cubicBezTo>
                  <a:cubicBezTo>
                    <a:pt x="9466580" y="12192000"/>
                    <a:pt x="12192000" y="9466580"/>
                    <a:pt x="12192000" y="6104509"/>
                  </a:cubicBezTo>
                  <a:lnTo>
                    <a:pt x="12200509" y="6104509"/>
                  </a:lnTo>
                  <a:lnTo>
                    <a:pt x="12192000" y="6104509"/>
                  </a:lnTo>
                  <a:cubicBezTo>
                    <a:pt x="12192000" y="2742438"/>
                    <a:pt x="9466580" y="16891"/>
                    <a:pt x="6104509" y="16891"/>
                  </a:cubicBezTo>
                  <a:lnTo>
                    <a:pt x="6104509" y="8509"/>
                  </a:lnTo>
                  <a:lnTo>
                    <a:pt x="6104509" y="17018"/>
                  </a:lnTo>
                  <a:cubicBezTo>
                    <a:pt x="2742438" y="16891"/>
                    <a:pt x="16891" y="2742438"/>
                    <a:pt x="16891" y="6104509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09647" y="5480047"/>
            <a:ext cx="7327897" cy="7327897"/>
            <a:chOff x="0" y="0"/>
            <a:chExt cx="9770529" cy="97705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509" y="8509"/>
              <a:ext cx="97536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9753600">
                  <a:moveTo>
                    <a:pt x="0" y="4876800"/>
                  </a:moveTo>
                  <a:cubicBezTo>
                    <a:pt x="0" y="2183384"/>
                    <a:pt x="2183384" y="0"/>
                    <a:pt x="4876800" y="0"/>
                  </a:cubicBezTo>
                  <a:cubicBezTo>
                    <a:pt x="7570216" y="0"/>
                    <a:pt x="9753600" y="2183384"/>
                    <a:pt x="9753600" y="4876800"/>
                  </a:cubicBezTo>
                  <a:cubicBezTo>
                    <a:pt x="9753600" y="7570216"/>
                    <a:pt x="7570216" y="9753601"/>
                    <a:pt x="4876800" y="9753601"/>
                  </a:cubicBezTo>
                  <a:cubicBezTo>
                    <a:pt x="2183384" y="9753601"/>
                    <a:pt x="0" y="7570216"/>
                    <a:pt x="0" y="4876800"/>
                  </a:cubicBez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78526" t="-87" r="-78525" b="-86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-127" y="0"/>
              <a:ext cx="9770618" cy="9770618"/>
            </a:xfrm>
            <a:custGeom>
              <a:avLst/>
              <a:gdLst/>
              <a:ahLst/>
              <a:cxnLst/>
              <a:rect r="r" b="b" t="t" l="l"/>
              <a:pathLst>
                <a:path h="9770618" w="9770618">
                  <a:moveTo>
                    <a:pt x="127" y="4885309"/>
                  </a:moveTo>
                  <a:cubicBezTo>
                    <a:pt x="127" y="2187194"/>
                    <a:pt x="2187321" y="0"/>
                    <a:pt x="4885436" y="0"/>
                  </a:cubicBezTo>
                  <a:lnTo>
                    <a:pt x="4885436" y="8509"/>
                  </a:lnTo>
                  <a:lnTo>
                    <a:pt x="4885436" y="0"/>
                  </a:lnTo>
                  <a:cubicBezTo>
                    <a:pt x="7583424" y="0"/>
                    <a:pt x="9770618" y="2187194"/>
                    <a:pt x="9770618" y="4885309"/>
                  </a:cubicBezTo>
                  <a:lnTo>
                    <a:pt x="9762109" y="4885309"/>
                  </a:lnTo>
                  <a:lnTo>
                    <a:pt x="9770618" y="4885309"/>
                  </a:lnTo>
                  <a:cubicBezTo>
                    <a:pt x="9770618" y="7583424"/>
                    <a:pt x="7583425" y="9770618"/>
                    <a:pt x="4885309" y="9770618"/>
                  </a:cubicBezTo>
                  <a:lnTo>
                    <a:pt x="4885309" y="9762110"/>
                  </a:lnTo>
                  <a:lnTo>
                    <a:pt x="4885309" y="9770618"/>
                  </a:lnTo>
                  <a:cubicBezTo>
                    <a:pt x="2187321" y="9770491"/>
                    <a:pt x="127" y="7583297"/>
                    <a:pt x="127" y="4885309"/>
                  </a:cubicBezTo>
                  <a:lnTo>
                    <a:pt x="8636" y="4885309"/>
                  </a:lnTo>
                  <a:lnTo>
                    <a:pt x="17145" y="4885309"/>
                  </a:lnTo>
                  <a:lnTo>
                    <a:pt x="8636" y="4885309"/>
                  </a:lnTo>
                  <a:lnTo>
                    <a:pt x="127" y="4885309"/>
                  </a:lnTo>
                  <a:moveTo>
                    <a:pt x="17018" y="4885309"/>
                  </a:moveTo>
                  <a:cubicBezTo>
                    <a:pt x="17018" y="4890008"/>
                    <a:pt x="13208" y="4893818"/>
                    <a:pt x="8509" y="4893818"/>
                  </a:cubicBezTo>
                  <a:cubicBezTo>
                    <a:pt x="3810" y="4893818"/>
                    <a:pt x="0" y="4890008"/>
                    <a:pt x="0" y="4885309"/>
                  </a:cubicBezTo>
                  <a:cubicBezTo>
                    <a:pt x="0" y="4880610"/>
                    <a:pt x="3810" y="4876800"/>
                    <a:pt x="8509" y="4876800"/>
                  </a:cubicBezTo>
                  <a:cubicBezTo>
                    <a:pt x="13208" y="4876800"/>
                    <a:pt x="17018" y="4880610"/>
                    <a:pt x="17018" y="4885309"/>
                  </a:cubicBezTo>
                  <a:cubicBezTo>
                    <a:pt x="17018" y="7574026"/>
                    <a:pt x="2196719" y="9753600"/>
                    <a:pt x="4885436" y="9753600"/>
                  </a:cubicBezTo>
                  <a:cubicBezTo>
                    <a:pt x="7574153" y="9753600"/>
                    <a:pt x="9753727" y="7574026"/>
                    <a:pt x="9753727" y="4885309"/>
                  </a:cubicBezTo>
                  <a:cubicBezTo>
                    <a:pt x="9753727" y="2196592"/>
                    <a:pt x="7574153" y="16891"/>
                    <a:pt x="4885436" y="16891"/>
                  </a:cubicBezTo>
                  <a:lnTo>
                    <a:pt x="4885436" y="8509"/>
                  </a:lnTo>
                  <a:lnTo>
                    <a:pt x="4885436" y="17018"/>
                  </a:lnTo>
                  <a:cubicBezTo>
                    <a:pt x="2196719" y="16891"/>
                    <a:pt x="17018" y="2196592"/>
                    <a:pt x="17018" y="4885309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914400"/>
            <a:ext cx="16459200" cy="914400"/>
            <a:chOff x="0" y="0"/>
            <a:chExt cx="21945600" cy="1219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19456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b="true" sz="2600" spc="1000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2011680"/>
            <a:ext cx="16459200" cy="1188720"/>
            <a:chOff x="0" y="0"/>
            <a:chExt cx="21945600" cy="1584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04775"/>
              <a:ext cx="2194560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b="true" sz="5200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Ce que le projet démontre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18823" y="3736343"/>
            <a:ext cx="5237483" cy="4048763"/>
            <a:chOff x="0" y="0"/>
            <a:chExt cx="6983311" cy="53983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6949440" cy="5364480"/>
            </a:xfrm>
            <a:custGeom>
              <a:avLst/>
              <a:gdLst/>
              <a:ahLst/>
              <a:cxnLst/>
              <a:rect r="r" b="b" t="t" l="l"/>
              <a:pathLst>
                <a:path h="536448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FFFFF">
                <a:alpha val="84314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83222" cy="5398262"/>
            </a:xfrm>
            <a:custGeom>
              <a:avLst/>
              <a:gdLst/>
              <a:ahLst/>
              <a:cxnLst/>
              <a:rect r="r" b="b" t="t" l="l"/>
              <a:pathLst>
                <a:path h="5398262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5381371"/>
                  </a:lnTo>
                  <a:cubicBezTo>
                    <a:pt x="6983222" y="5390769"/>
                    <a:pt x="6975602" y="5398262"/>
                    <a:pt x="6966331" y="5398262"/>
                  </a:cubicBezTo>
                  <a:lnTo>
                    <a:pt x="16891" y="5398262"/>
                  </a:lnTo>
                  <a:cubicBezTo>
                    <a:pt x="7493" y="5398262"/>
                    <a:pt x="0" y="5390642"/>
                    <a:pt x="0" y="5381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81371"/>
                  </a:lnTo>
                  <a:lnTo>
                    <a:pt x="16891" y="5381371"/>
                  </a:lnTo>
                  <a:lnTo>
                    <a:pt x="16891" y="5364480"/>
                  </a:lnTo>
                  <a:lnTo>
                    <a:pt x="6966331" y="5364480"/>
                  </a:lnTo>
                  <a:lnTo>
                    <a:pt x="6966331" y="5381371"/>
                  </a:lnTo>
                  <a:lnTo>
                    <a:pt x="6949440" y="5381371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3931920"/>
            <a:ext cx="5212080" cy="1097280"/>
            <a:chOff x="0" y="0"/>
            <a:chExt cx="6949440" cy="1463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49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694944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📡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5157216"/>
            <a:ext cx="4846320" cy="914400"/>
            <a:chOff x="0" y="0"/>
            <a:chExt cx="6461760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61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46176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Radiographies exploitables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6181344"/>
            <a:ext cx="4846320" cy="1426464"/>
            <a:chOff x="0" y="0"/>
            <a:chExt cx="6461760" cy="19019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61760" cy="1901952"/>
            </a:xfrm>
            <a:custGeom>
              <a:avLst/>
              <a:gdLst/>
              <a:ahLst/>
              <a:cxnLst/>
              <a:rect r="r" b="b" t="t" l="l"/>
              <a:pathLst>
                <a:path h="19019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99" r="0" b="-1619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461760" cy="194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Les CNN peuvent extraire des représentations utiles depuis des images médicales.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388103" y="3736343"/>
            <a:ext cx="5237483" cy="4048763"/>
            <a:chOff x="0" y="0"/>
            <a:chExt cx="6983311" cy="53983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6949440" cy="5364480"/>
            </a:xfrm>
            <a:custGeom>
              <a:avLst/>
              <a:gdLst/>
              <a:ahLst/>
              <a:cxnLst/>
              <a:rect r="r" b="b" t="t" l="l"/>
              <a:pathLst>
                <a:path h="536448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FFFFF">
                <a:alpha val="84314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983222" cy="5398262"/>
            </a:xfrm>
            <a:custGeom>
              <a:avLst/>
              <a:gdLst/>
              <a:ahLst/>
              <a:cxnLst/>
              <a:rect r="r" b="b" t="t" l="l"/>
              <a:pathLst>
                <a:path h="5398262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5381371"/>
                  </a:lnTo>
                  <a:cubicBezTo>
                    <a:pt x="6983222" y="5390769"/>
                    <a:pt x="6975602" y="5398262"/>
                    <a:pt x="6966331" y="5398262"/>
                  </a:cubicBezTo>
                  <a:lnTo>
                    <a:pt x="16891" y="5398262"/>
                  </a:lnTo>
                  <a:cubicBezTo>
                    <a:pt x="7493" y="5398262"/>
                    <a:pt x="0" y="5390642"/>
                    <a:pt x="0" y="5381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81371"/>
                  </a:lnTo>
                  <a:lnTo>
                    <a:pt x="16891" y="5381371"/>
                  </a:lnTo>
                  <a:lnTo>
                    <a:pt x="16891" y="5364480"/>
                  </a:lnTo>
                  <a:lnTo>
                    <a:pt x="6966331" y="5364480"/>
                  </a:lnTo>
                  <a:lnTo>
                    <a:pt x="6966331" y="5381371"/>
                  </a:lnTo>
                  <a:lnTo>
                    <a:pt x="6949440" y="5381371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400800" y="3931920"/>
            <a:ext cx="5212080" cy="1097280"/>
            <a:chOff x="0" y="0"/>
            <a:chExt cx="6949440" cy="1463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949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694944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⚖️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583680" y="5157216"/>
            <a:ext cx="4846320" cy="914400"/>
            <a:chOff x="0" y="0"/>
            <a:chExt cx="6461760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61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46176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Régularisation nécessaire mais insuffisante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583680" y="6181344"/>
            <a:ext cx="4846320" cy="1426464"/>
            <a:chOff x="0" y="0"/>
            <a:chExt cx="6461760" cy="19019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61760" cy="1901952"/>
            </a:xfrm>
            <a:custGeom>
              <a:avLst/>
              <a:gdLst/>
              <a:ahLst/>
              <a:cxnLst/>
              <a:rect r="r" b="b" t="t" l="l"/>
              <a:pathLst>
                <a:path h="19019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99" r="0" b="-1619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461760" cy="194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BN + Dropout + L2 améliore légèrement mais ne comble pas l'écart.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057383" y="3736343"/>
            <a:ext cx="5237483" cy="4048763"/>
            <a:chOff x="0" y="0"/>
            <a:chExt cx="6983311" cy="539835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6949440" cy="5364480"/>
            </a:xfrm>
            <a:custGeom>
              <a:avLst/>
              <a:gdLst/>
              <a:ahLst/>
              <a:cxnLst/>
              <a:rect r="r" b="b" t="t" l="l"/>
              <a:pathLst>
                <a:path h="536448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FFFFF">
                <a:alpha val="84314"/>
              </a:srgbClr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983222" cy="5398262"/>
            </a:xfrm>
            <a:custGeom>
              <a:avLst/>
              <a:gdLst/>
              <a:ahLst/>
              <a:cxnLst/>
              <a:rect r="r" b="b" t="t" l="l"/>
              <a:pathLst>
                <a:path h="5398262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5381371"/>
                  </a:lnTo>
                  <a:cubicBezTo>
                    <a:pt x="6983222" y="5390769"/>
                    <a:pt x="6975602" y="5398262"/>
                    <a:pt x="6966331" y="5398262"/>
                  </a:cubicBezTo>
                  <a:lnTo>
                    <a:pt x="16891" y="5398262"/>
                  </a:lnTo>
                  <a:cubicBezTo>
                    <a:pt x="7493" y="5398262"/>
                    <a:pt x="0" y="5390642"/>
                    <a:pt x="0" y="5381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81371"/>
                  </a:lnTo>
                  <a:lnTo>
                    <a:pt x="16891" y="5381371"/>
                  </a:lnTo>
                  <a:lnTo>
                    <a:pt x="16891" y="5364480"/>
                  </a:lnTo>
                  <a:lnTo>
                    <a:pt x="6966331" y="5364480"/>
                  </a:lnTo>
                  <a:lnTo>
                    <a:pt x="6966331" y="5381371"/>
                  </a:lnTo>
                  <a:lnTo>
                    <a:pt x="6949440" y="5381371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070080" y="3931920"/>
            <a:ext cx="5212080" cy="1097280"/>
            <a:chOff x="0" y="0"/>
            <a:chExt cx="6949440" cy="1463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949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694944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🚀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252960" y="5157216"/>
            <a:ext cx="4846320" cy="914400"/>
            <a:chOff x="0" y="0"/>
            <a:chExt cx="6461760" cy="1219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461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646176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Transfer learning — meilleur compromis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252960" y="6181344"/>
            <a:ext cx="4846320" cy="1426464"/>
            <a:chOff x="0" y="0"/>
            <a:chExt cx="6461760" cy="19019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461760" cy="1901952"/>
            </a:xfrm>
            <a:custGeom>
              <a:avLst/>
              <a:gdLst/>
              <a:ahLst/>
              <a:cxnLst/>
              <a:rect r="r" b="b" t="t" l="l"/>
              <a:pathLst>
                <a:path h="19019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99" r="0" b="-1619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461760" cy="194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EfficientNetB0 apporte le gain le plus important : MAE divisée par 2,4.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31520" y="8229600"/>
            <a:ext cx="16824960" cy="1371600"/>
            <a:chOff x="0" y="0"/>
            <a:chExt cx="22433280" cy="1828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14400" y="8229600"/>
            <a:ext cx="16459200" cy="1371600"/>
            <a:chOff x="0" y="0"/>
            <a:chExt cx="21945600" cy="1828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19456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Meilleur modèle : EfficientNetB0  ·  MAE = 14.37 mois  ·  R² = 0.8116  ·  Exporté : bone_age_model.keras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580377">
            <a:off x="9407140" y="-9309963"/>
            <a:ext cx="24036383" cy="24664199"/>
          </a:xfrm>
          <a:custGeom>
            <a:avLst/>
            <a:gdLst/>
            <a:ahLst/>
            <a:cxnLst/>
            <a:rect r="r" b="b" t="t" l="l"/>
            <a:pathLst>
              <a:path h="24664199" w="24036383">
                <a:moveTo>
                  <a:pt x="0" y="0"/>
                </a:moveTo>
                <a:lnTo>
                  <a:pt x="24036383" y="0"/>
                </a:lnTo>
                <a:lnTo>
                  <a:pt x="24036383" y="24664198"/>
                </a:lnTo>
                <a:lnTo>
                  <a:pt x="0" y="246641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14122" y="1564804"/>
            <a:ext cx="8097687" cy="488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015"/>
              </a:lnSpc>
              <a:spcBef>
                <a:spcPct val="0"/>
              </a:spcBef>
            </a:pPr>
            <a:r>
              <a:rPr lang="en-US" b="true" sz="9431" spc="924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MERCI POUR VOTRE ATTENTION !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-4254153" y="7476061"/>
            <a:ext cx="11881594" cy="3564478"/>
          </a:xfrm>
          <a:custGeom>
            <a:avLst/>
            <a:gdLst/>
            <a:ahLst/>
            <a:cxnLst/>
            <a:rect r="r" b="b" t="t" l="l"/>
            <a:pathLst>
              <a:path h="3564478" w="11881594">
                <a:moveTo>
                  <a:pt x="11881594" y="0"/>
                </a:moveTo>
                <a:lnTo>
                  <a:pt x="0" y="0"/>
                </a:lnTo>
                <a:lnTo>
                  <a:pt x="0" y="3564478"/>
                </a:lnTo>
                <a:lnTo>
                  <a:pt x="11881594" y="3564478"/>
                </a:lnTo>
                <a:lnTo>
                  <a:pt x="1188159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DAHKYTs80lU</dc:identifier>
  <dcterms:modified xsi:type="dcterms:W3CDTF">2011-08-01T06:04:30Z</dcterms:modified>
  <cp:revision>1</cp:revision>
  <dc:title>age osseux DL</dc:title>
</cp:coreProperties>
</file>